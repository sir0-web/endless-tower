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965960"/>
            <a:ext cx="12191695" cy="2468880"/>
          </a:xfrm>
          <a:prstGeom prst="rect">
            <a:avLst/>
          </a:prstGeom>
          <a:solidFill>
            <a:srgbClr val="1410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234440"/>
            <a:ext cx="10698480" cy="457200"/>
          </a:xfrm>
          <a:prstGeom prst="rect">
            <a:avLst/>
          </a:prstGeom>
          <a:noFill/>
        </p:spPr>
        <p:txBody>
          <a:bodyPr wrap="square" anchor="t">
            <a:spAutoFit/>
          </a:bodyPr>
          <a:lstStyle/>
          <a:p>
            <a:pPr algn="ctr">
              <a:lnSpc>
                <a:spcPct val="115000"/>
              </a:lnSpc>
              <a:spcAft>
                <a:spcPts val="400"/>
              </a:spcAft>
            </a:pPr>
            <a:r>
              <a:rPr sz="1800" b="1">
                <a:solidFill>
                  <a:srgbClr val="9B5CF6"/>
                </a:solidFill>
                <a:latin typeface="Yu Gothic UI"/>
                <a:ea typeface="Yu Gothic UI"/>
              </a:rPr>
              <a:t>Endless Basement Tower — 新章企画</a:t>
            </a:r>
          </a:p>
        </p:txBody>
      </p:sp>
      <p:sp>
        <p:nvSpPr>
          <p:cNvPr id="6" name="TextBox 5"/>
          <p:cNvSpPr txBox="1"/>
          <p:nvPr/>
        </p:nvSpPr>
        <p:spPr>
          <a:xfrm>
            <a:off x="731520" y="2148840"/>
            <a:ext cx="10698480" cy="1371600"/>
          </a:xfrm>
          <a:prstGeom prst="rect">
            <a:avLst/>
          </a:prstGeom>
          <a:noFill/>
        </p:spPr>
        <p:txBody>
          <a:bodyPr wrap="square" anchor="t">
            <a:spAutoFit/>
          </a:bodyPr>
          <a:lstStyle/>
          <a:p>
            <a:pPr algn="ctr">
              <a:lnSpc>
                <a:spcPct val="115000"/>
              </a:lnSpc>
              <a:spcAft>
                <a:spcPts val="400"/>
              </a:spcAft>
            </a:pPr>
            <a:r>
              <a:rPr sz="8800" b="1">
                <a:solidFill>
                  <a:srgbClr val="F0C64A"/>
                </a:solidFill>
                <a:latin typeface="Yu Mincho Demibold"/>
                <a:ea typeface="Yu Mincho Demibold"/>
              </a:rPr>
              <a:t>KIZUNA</a:t>
            </a:r>
          </a:p>
        </p:txBody>
      </p:sp>
      <p:sp>
        <p:nvSpPr>
          <p:cNvPr id="7" name="TextBox 6"/>
          <p:cNvSpPr txBox="1"/>
          <p:nvPr/>
        </p:nvSpPr>
        <p:spPr>
          <a:xfrm>
            <a:off x="731520" y="3703320"/>
            <a:ext cx="10698480" cy="548640"/>
          </a:xfrm>
          <a:prstGeom prst="rect">
            <a:avLst/>
          </a:prstGeom>
          <a:noFill/>
        </p:spPr>
        <p:txBody>
          <a:bodyPr wrap="square" anchor="t">
            <a:spAutoFit/>
          </a:bodyPr>
          <a:lstStyle/>
          <a:p>
            <a:pPr algn="ctr">
              <a:lnSpc>
                <a:spcPct val="115000"/>
              </a:lnSpc>
              <a:spcAft>
                <a:spcPts val="400"/>
              </a:spcAft>
            </a:pPr>
            <a:r>
              <a:rPr sz="1800" b="0">
                <a:solidFill>
                  <a:srgbClr val="EDE6D8"/>
                </a:solidFill>
                <a:latin typeface="Yu Gothic UI"/>
                <a:ea typeface="Yu Gothic UI"/>
              </a:rPr>
              <a:t>一人では攻略できない塔を、仲間の“意志”を受け継ぎながら全員で踏破する</a:t>
            </a:r>
          </a:p>
        </p:txBody>
      </p:sp>
      <p:sp>
        <p:nvSpPr>
          <p:cNvPr id="8" name="TextBox 7"/>
          <p:cNvSpPr txBox="1"/>
          <p:nvPr/>
        </p:nvSpPr>
        <p:spPr>
          <a:xfrm>
            <a:off x="731520" y="4160520"/>
            <a:ext cx="10698480" cy="548640"/>
          </a:xfrm>
          <a:prstGeom prst="rect">
            <a:avLst/>
          </a:prstGeom>
          <a:noFill/>
        </p:spPr>
        <p:txBody>
          <a:bodyPr wrap="square" anchor="t">
            <a:spAutoFit/>
          </a:bodyPr>
          <a:lstStyle/>
          <a:p>
            <a:pPr algn="ctr">
              <a:lnSpc>
                <a:spcPct val="115000"/>
              </a:lnSpc>
              <a:spcAft>
                <a:spcPts val="400"/>
              </a:spcAft>
            </a:pPr>
            <a:r>
              <a:rPr sz="2400" b="1">
                <a:solidFill>
                  <a:srgbClr val="9B5CF6"/>
                </a:solidFill>
                <a:latin typeface="Yu Gothic UI"/>
                <a:ea typeface="Yu Gothic UI"/>
              </a:rPr>
              <a:t>非同期協力型ローグライク</a:t>
            </a:r>
          </a:p>
        </p:txBody>
      </p:sp>
      <p:sp>
        <p:nvSpPr>
          <p:cNvPr id="9" name="TextBox 8"/>
          <p:cNvSpPr txBox="1"/>
          <p:nvPr/>
        </p:nvSpPr>
        <p:spPr>
          <a:xfrm>
            <a:off x="731520" y="5943600"/>
            <a:ext cx="10698480" cy="457200"/>
          </a:xfrm>
          <a:prstGeom prst="rect">
            <a:avLst/>
          </a:prstGeom>
          <a:noFill/>
        </p:spPr>
        <p:txBody>
          <a:bodyPr wrap="square" anchor="t">
            <a:spAutoFit/>
          </a:bodyPr>
          <a:lstStyle/>
          <a:p>
            <a:pPr algn="ctr">
              <a:lnSpc>
                <a:spcPct val="115000"/>
              </a:lnSpc>
              <a:spcAft>
                <a:spcPts val="400"/>
              </a:spcAft>
            </a:pPr>
            <a:r>
              <a:rPr sz="1200" b="0">
                <a:solidFill>
                  <a:srgbClr val="B9AFD0"/>
                </a:solidFill>
                <a:latin typeface="Yu Gothic UI"/>
                <a:ea typeface="Yu Gothic UI"/>
              </a:rPr>
              <a:t>企画コンセプト・仕様まとめ｜出典：まっち×モコ 打ち合わせ（2026-07-07〜07-12）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1. コンセプト（確定・北極星）</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365760"/>
          </a:xfrm>
          <a:prstGeom prst="rect">
            <a:avLst/>
          </a:prstGeom>
          <a:noFill/>
        </p:spPr>
        <p:txBody>
          <a:bodyPr wrap="square" anchor="t">
            <a:spAutoFit/>
          </a:bodyPr>
          <a:lstStyle/>
          <a:p>
            <a:pPr algn="l">
              <a:lnSpc>
                <a:spcPct val="115000"/>
              </a:lnSpc>
              <a:spcAft>
                <a:spcPts val="400"/>
              </a:spcAft>
            </a:pPr>
            <a:r>
              <a:rPr sz="1300" b="0">
                <a:solidFill>
                  <a:srgbClr val="B9AFD0"/>
                </a:solidFill>
                <a:latin typeface="Yu Gothic UI"/>
                <a:ea typeface="Yu Gothic UI"/>
              </a:rPr>
              <a:t>迷ったらここに立ち返って方向修正する</a:t>
            </a:r>
          </a:p>
        </p:txBody>
      </p:sp>
      <p:sp>
        <p:nvSpPr>
          <p:cNvPr id="7" name="Rounded Rectangle 6"/>
          <p:cNvSpPr/>
          <p:nvPr/>
        </p:nvSpPr>
        <p:spPr>
          <a:xfrm>
            <a:off x="640080" y="1417320"/>
            <a:ext cx="10881360" cy="1234440"/>
          </a:xfrm>
          <a:prstGeom prst="roundRect">
            <a:avLst>
              <a:gd name="adj" fmla="val 6000"/>
            </a:avLst>
          </a:prstGeom>
          <a:solidFill>
            <a:srgbClr val="1C1533"/>
          </a:solidFill>
          <a:ln w="254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00200"/>
            <a:ext cx="10332720" cy="914400"/>
          </a:xfrm>
          <a:prstGeom prst="rect">
            <a:avLst/>
          </a:prstGeom>
          <a:noFill/>
        </p:spPr>
        <p:txBody>
          <a:bodyPr wrap="square" anchor="t">
            <a:spAutoFit/>
          </a:bodyPr>
          <a:lstStyle/>
          <a:p>
            <a:pPr algn="ctr">
              <a:lnSpc>
                <a:spcPct val="115000"/>
              </a:lnSpc>
              <a:spcAft>
                <a:spcPts val="400"/>
              </a:spcAft>
            </a:pPr>
            <a:r>
              <a:rPr sz="2100" b="1">
                <a:solidFill>
                  <a:srgbClr val="F0C64A"/>
                </a:solidFill>
                <a:latin typeface="Yu Mincho Demibold"/>
                <a:ea typeface="Yu Mincho Demibold"/>
              </a:rPr>
              <a:t>「一人では攻略できない塔を、仲間の“意志”を受け継ぎながら
全員で踏破する非同期協力型ローグライク」</a:t>
            </a:r>
          </a:p>
        </p:txBody>
      </p:sp>
      <p:sp>
        <p:nvSpPr>
          <p:cNvPr id="9" name="TextBox 8"/>
          <p:cNvSpPr txBox="1"/>
          <p:nvPr/>
        </p:nvSpPr>
        <p:spPr>
          <a:xfrm>
            <a:off x="685800" y="2880360"/>
            <a:ext cx="5486400" cy="365760"/>
          </a:xfrm>
          <a:prstGeom prst="rect">
            <a:avLst/>
          </a:prstGeom>
          <a:noFill/>
        </p:spPr>
        <p:txBody>
          <a:bodyPr wrap="square" anchor="t">
            <a:spAutoFit/>
          </a:bodyPr>
          <a:lstStyle/>
          <a:p>
            <a:pPr algn="l">
              <a:lnSpc>
                <a:spcPct val="115000"/>
              </a:lnSpc>
              <a:spcAft>
                <a:spcPts val="400"/>
              </a:spcAft>
            </a:pPr>
            <a:r>
              <a:rPr sz="1600" b="1">
                <a:solidFill>
                  <a:srgbClr val="9B5CF6"/>
                </a:solidFill>
                <a:latin typeface="Yu Gothic UI"/>
                <a:ea typeface="Yu Gothic UI"/>
              </a:rPr>
              <a:t>■ 狙い</a:t>
            </a:r>
          </a:p>
        </p:txBody>
      </p:sp>
      <p:sp>
        <p:nvSpPr>
          <p:cNvPr id="10" name="TextBox 9"/>
          <p:cNvSpPr txBox="1"/>
          <p:nvPr/>
        </p:nvSpPr>
        <p:spPr>
          <a:xfrm>
            <a:off x="868680" y="3291840"/>
            <a:ext cx="6035040" cy="2377440"/>
          </a:xfrm>
          <a:prstGeom prst="rect">
            <a:avLst/>
          </a:prstGeom>
          <a:noFill/>
        </p:spPr>
        <p:txBody>
          <a:bodyPr wrap="square" anchor="t">
            <a:spAutoFit/>
          </a:bodyPr>
          <a:lstStyle/>
          <a:p>
            <a:pPr algn="l">
              <a:lnSpc>
                <a:spcPct val="115000"/>
              </a:lnSpc>
              <a:spcAft>
                <a:spcPts val="400"/>
              </a:spcAft>
            </a:pPr>
            <a:r>
              <a:rPr sz="1500" b="0">
                <a:solidFill>
                  <a:srgbClr val="EDE6D8"/>
                </a:solidFill>
                <a:latin typeface="Yu Gothic UI"/>
                <a:ea typeface="Yu Gothic UI"/>
              </a:rPr>
              <a:t>・プレイヤーはそれぞれ自分のタイミングで塔へ挑戦する</a:t>
            </a:r>
          </a:p>
          <a:p>
            <a:pPr algn="l">
              <a:lnSpc>
                <a:spcPct val="115000"/>
              </a:lnSpc>
              <a:spcAft>
                <a:spcPts val="400"/>
              </a:spcAft>
            </a:pPr>
            <a:r>
              <a:rPr sz="1500" b="0">
                <a:solidFill>
                  <a:srgbClr val="EDE6D8"/>
                </a:solidFill>
                <a:latin typeface="Yu Gothic UI"/>
                <a:ea typeface="Yu Gothic UI"/>
              </a:rPr>
              <a:t>・</a:t>
            </a:r>
            <a:r>
              <a:rPr sz="1500" b="1">
                <a:solidFill>
                  <a:srgbClr val="F0C64A"/>
                </a:solidFill>
                <a:latin typeface="Yu Gothic UI"/>
                <a:ea typeface="Yu Gothic UI"/>
              </a:rPr>
              <a:t>敗北は失敗ではなく、次の挑戦者へ力を託す行為</a:t>
            </a:r>
            <a:r>
              <a:rPr sz="1500" b="0">
                <a:solidFill>
                  <a:srgbClr val="EDE6D8"/>
                </a:solidFill>
                <a:latin typeface="Yu Gothic UI"/>
                <a:ea typeface="Yu Gothic UI"/>
              </a:rPr>
              <a:t>となる</a:t>
            </a:r>
          </a:p>
          <a:p>
            <a:pPr algn="l">
              <a:lnSpc>
                <a:spcPct val="115000"/>
              </a:lnSpc>
              <a:spcAft>
                <a:spcPts val="400"/>
              </a:spcAft>
            </a:pPr>
            <a:r>
              <a:rPr sz="1500" b="0">
                <a:solidFill>
                  <a:srgbClr val="EDE6D8"/>
                </a:solidFill>
                <a:latin typeface="Yu Gothic UI"/>
                <a:ea typeface="Yu Gothic UI"/>
              </a:rPr>
              <a:t>・誰かの犠牲が、誰かの前進になり、最終的にはギルド全員の力で塔を攻略する</a:t>
            </a:r>
          </a:p>
        </p:txBody>
      </p:sp>
      <p:sp>
        <p:nvSpPr>
          <p:cNvPr id="11" name="TextBox 10"/>
          <p:cNvSpPr txBox="1"/>
          <p:nvPr/>
        </p:nvSpPr>
        <p:spPr>
          <a:xfrm>
            <a:off x="7315200" y="2880360"/>
            <a:ext cx="3657600" cy="365760"/>
          </a:xfrm>
          <a:prstGeom prst="rect">
            <a:avLst/>
          </a:prstGeom>
          <a:noFill/>
        </p:spPr>
        <p:txBody>
          <a:bodyPr wrap="square" anchor="t">
            <a:spAutoFit/>
          </a:bodyPr>
          <a:lstStyle/>
          <a:p>
            <a:pPr algn="l">
              <a:lnSpc>
                <a:spcPct val="115000"/>
              </a:lnSpc>
              <a:spcAft>
                <a:spcPts val="400"/>
              </a:spcAft>
            </a:pPr>
            <a:r>
              <a:rPr sz="1600" b="1">
                <a:solidFill>
                  <a:srgbClr val="9B5CF6"/>
                </a:solidFill>
                <a:latin typeface="Yu Gothic UI"/>
                <a:ea typeface="Yu Gothic UI"/>
              </a:rPr>
              <a:t>■ キーワード</a:t>
            </a:r>
          </a:p>
        </p:txBody>
      </p:sp>
      <p:sp>
        <p:nvSpPr>
          <p:cNvPr id="12" name="Rounded Rectangle 11"/>
          <p:cNvSpPr/>
          <p:nvPr/>
        </p:nvSpPr>
        <p:spPr>
          <a:xfrm>
            <a:off x="7315200" y="329184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非同期協力</a:t>
            </a:r>
          </a:p>
        </p:txBody>
      </p:sp>
      <p:sp>
        <p:nvSpPr>
          <p:cNvPr id="13" name="Rounded Rectangle 12"/>
          <p:cNvSpPr/>
          <p:nvPr/>
        </p:nvSpPr>
        <p:spPr>
          <a:xfrm>
            <a:off x="9418320" y="329184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死亡＝貢献</a:t>
            </a:r>
          </a:p>
        </p:txBody>
      </p:sp>
      <p:sp>
        <p:nvSpPr>
          <p:cNvPr id="14" name="Rounded Rectangle 13"/>
          <p:cNvSpPr/>
          <p:nvPr/>
        </p:nvSpPr>
        <p:spPr>
          <a:xfrm>
            <a:off x="7315200" y="384048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継承</a:t>
            </a:r>
          </a:p>
        </p:txBody>
      </p:sp>
      <p:sp>
        <p:nvSpPr>
          <p:cNvPr id="15" name="Rounded Rectangle 14"/>
          <p:cNvSpPr/>
          <p:nvPr/>
        </p:nvSpPr>
        <p:spPr>
          <a:xfrm>
            <a:off x="9418320" y="384048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ローグライク</a:t>
            </a:r>
          </a:p>
        </p:txBody>
      </p:sp>
      <p:sp>
        <p:nvSpPr>
          <p:cNvPr id="16" name="Rounded Rectangle 15"/>
          <p:cNvSpPr/>
          <p:nvPr/>
        </p:nvSpPr>
        <p:spPr>
          <a:xfrm>
            <a:off x="7315200" y="438912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コミュニティ攻略</a:t>
            </a:r>
          </a:p>
        </p:txBody>
      </p:sp>
      <p:sp>
        <p:nvSpPr>
          <p:cNvPr id="17" name="Rounded Rectangle 16"/>
          <p:cNvSpPr/>
          <p:nvPr/>
        </p:nvSpPr>
        <p:spPr>
          <a:xfrm>
            <a:off x="9418320" y="4389120"/>
            <a:ext cx="1920240" cy="384048"/>
          </a:xfrm>
          <a:prstGeom prst="roundRect">
            <a:avLst>
              <a:gd name="adj" fmla="val 6000"/>
            </a:avLst>
          </a:prstGeom>
          <a:solidFill>
            <a:srgbClr val="141028"/>
          </a:solidFill>
          <a:ln w="127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F0C64A"/>
                </a:solidFill>
                <a:latin typeface="Yu Gothic UI"/>
                <a:ea typeface="Yu Gothic UI"/>
              </a:rPr>
              <a:t>リレー形式</a:t>
            </a:r>
          </a:p>
        </p:txBody>
      </p:sp>
      <p:sp>
        <p:nvSpPr>
          <p:cNvPr id="18" name="TextBox 17"/>
          <p:cNvSpPr txBox="1"/>
          <p:nvPr/>
        </p:nvSpPr>
        <p:spPr>
          <a:xfrm>
            <a:off x="7315200" y="5029200"/>
            <a:ext cx="4023360" cy="457200"/>
          </a:xfrm>
          <a:prstGeom prst="rect">
            <a:avLst/>
          </a:prstGeom>
          <a:noFill/>
        </p:spPr>
        <p:txBody>
          <a:bodyPr wrap="square" anchor="t">
            <a:spAutoFit/>
          </a:bodyPr>
          <a:lstStyle/>
          <a:p>
            <a:pPr algn="l">
              <a:lnSpc>
                <a:spcPct val="115000"/>
              </a:lnSpc>
              <a:spcAft>
                <a:spcPts val="400"/>
              </a:spcAft>
            </a:pPr>
            <a:r>
              <a:rPr sz="1700" b="1">
                <a:solidFill>
                  <a:srgbClr val="F0C64A"/>
                </a:solidFill>
                <a:latin typeface="Yu Gothic UI"/>
                <a:ea typeface="Yu Gothic UI"/>
              </a:rPr>
              <a:t>＝「次へ繋ぐ」ゲーム体験</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2. プレイヤー体験の転換</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554480"/>
            <a:ext cx="5120640" cy="4206240"/>
          </a:xfrm>
          <a:prstGeom prst="roundRect">
            <a:avLst>
              <a:gd name="adj" fmla="val 6000"/>
            </a:avLst>
          </a:prstGeom>
          <a:solidFill>
            <a:srgbClr val="141028"/>
          </a:solidFill>
          <a:ln w="15240">
            <a:solidFill>
              <a:srgbClr val="8A8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83080"/>
            <a:ext cx="5120640" cy="457200"/>
          </a:xfrm>
          <a:prstGeom prst="rect">
            <a:avLst/>
          </a:prstGeom>
          <a:noFill/>
        </p:spPr>
        <p:txBody>
          <a:bodyPr wrap="square" anchor="t">
            <a:spAutoFit/>
          </a:bodyPr>
          <a:lstStyle/>
          <a:p>
            <a:pPr algn="ctr">
              <a:lnSpc>
                <a:spcPct val="115000"/>
              </a:lnSpc>
              <a:spcAft>
                <a:spcPts val="400"/>
              </a:spcAft>
            </a:pPr>
            <a:r>
              <a:rPr sz="1900" b="1">
                <a:solidFill>
                  <a:srgbClr val="8A849C"/>
                </a:solidFill>
                <a:latin typeface="Yu Mincho Demibold"/>
                <a:ea typeface="Yu Mincho Demibold"/>
              </a:rPr>
              <a:t>従来のゲーム</a:t>
            </a:r>
          </a:p>
        </p:txBody>
      </p:sp>
      <p:sp>
        <p:nvSpPr>
          <p:cNvPr id="8" name="TextBox 7"/>
          <p:cNvSpPr txBox="1"/>
          <p:nvPr/>
        </p:nvSpPr>
        <p:spPr>
          <a:xfrm>
            <a:off x="1005840" y="2468880"/>
            <a:ext cx="4389120" cy="2194560"/>
          </a:xfrm>
          <a:prstGeom prst="rect">
            <a:avLst/>
          </a:prstGeom>
          <a:noFill/>
        </p:spPr>
        <p:txBody>
          <a:bodyPr wrap="square" anchor="t">
            <a:spAutoFit/>
          </a:bodyPr>
          <a:lstStyle/>
          <a:p>
            <a:pPr algn="ctr">
              <a:lnSpc>
                <a:spcPct val="115000"/>
              </a:lnSpc>
              <a:spcAft>
                <a:spcPts val="400"/>
              </a:spcAft>
            </a:pPr>
            <a:r>
              <a:rPr sz="1600" b="0">
                <a:solidFill>
                  <a:srgbClr val="B9AFD0"/>
                </a:solidFill>
                <a:latin typeface="Yu Gothic UI"/>
                <a:ea typeface="Yu Gothic UI"/>
              </a:rPr>
              <a:t>戦う</a:t>
            </a:r>
          </a:p>
          <a:p>
            <a:pPr algn="ctr">
              <a:lnSpc>
                <a:spcPct val="115000"/>
              </a:lnSpc>
              <a:spcAft>
                <a:spcPts val="400"/>
              </a:spcAft>
            </a:pPr>
            <a:r>
              <a:rPr sz="1600" b="0">
                <a:solidFill>
                  <a:srgbClr val="B9AFD0"/>
                </a:solidFill>
                <a:latin typeface="Yu Gothic UI"/>
                <a:ea typeface="Yu Gothic UI"/>
              </a:rPr>
              <a:t>　↓</a:t>
            </a:r>
          </a:p>
          <a:p>
            <a:pPr algn="ctr">
              <a:lnSpc>
                <a:spcPct val="115000"/>
              </a:lnSpc>
              <a:spcAft>
                <a:spcPts val="400"/>
              </a:spcAft>
            </a:pPr>
            <a:r>
              <a:rPr sz="1600" b="0">
                <a:solidFill>
                  <a:srgbClr val="B9AFD0"/>
                </a:solidFill>
                <a:latin typeface="Yu Gothic UI"/>
                <a:ea typeface="Yu Gothic UI"/>
              </a:rPr>
              <a:t>強くなる</a:t>
            </a:r>
          </a:p>
          <a:p>
            <a:pPr algn="ctr">
              <a:lnSpc>
                <a:spcPct val="115000"/>
              </a:lnSpc>
              <a:spcAft>
                <a:spcPts val="400"/>
              </a:spcAft>
            </a:pPr>
            <a:r>
              <a:rPr sz="1600" b="0">
                <a:solidFill>
                  <a:srgbClr val="B9AFD0"/>
                </a:solidFill>
                <a:latin typeface="Yu Gothic UI"/>
                <a:ea typeface="Yu Gothic UI"/>
              </a:rPr>
              <a:t>　↓</a:t>
            </a:r>
          </a:p>
          <a:p>
            <a:pPr algn="ctr">
              <a:lnSpc>
                <a:spcPct val="115000"/>
              </a:lnSpc>
              <a:spcAft>
                <a:spcPts val="400"/>
              </a:spcAft>
            </a:pPr>
            <a:r>
              <a:rPr sz="1600" b="0">
                <a:solidFill>
                  <a:srgbClr val="B9AFD0"/>
                </a:solidFill>
                <a:latin typeface="Yu Gothic UI"/>
                <a:ea typeface="Yu Gothic UI"/>
              </a:rPr>
              <a:t>自分でクリアする</a:t>
            </a:r>
          </a:p>
        </p:txBody>
      </p:sp>
      <p:sp>
        <p:nvSpPr>
          <p:cNvPr id="9" name="TextBox 8"/>
          <p:cNvSpPr txBox="1"/>
          <p:nvPr/>
        </p:nvSpPr>
        <p:spPr>
          <a:xfrm>
            <a:off x="822960" y="4983480"/>
            <a:ext cx="4754880" cy="548640"/>
          </a:xfrm>
          <a:prstGeom prst="rect">
            <a:avLst/>
          </a:prstGeom>
          <a:noFill/>
        </p:spPr>
        <p:txBody>
          <a:bodyPr wrap="square" anchor="t">
            <a:spAutoFit/>
          </a:bodyPr>
          <a:lstStyle/>
          <a:p>
            <a:pPr algn="ctr">
              <a:lnSpc>
                <a:spcPct val="115000"/>
              </a:lnSpc>
              <a:spcAft>
                <a:spcPts val="400"/>
              </a:spcAft>
            </a:pPr>
            <a:r>
              <a:rPr sz="1500" b="1">
                <a:solidFill>
                  <a:srgbClr val="B9AFD0"/>
                </a:solidFill>
                <a:latin typeface="Yu Gothic UI"/>
                <a:ea typeface="Yu Gothic UI"/>
              </a:rPr>
              <a:t>自分が強くなってクリアする。</a:t>
            </a:r>
          </a:p>
        </p:txBody>
      </p:sp>
      <p:sp>
        <p:nvSpPr>
          <p:cNvPr id="10" name="Rounded Rectangle 9"/>
          <p:cNvSpPr/>
          <p:nvPr/>
        </p:nvSpPr>
        <p:spPr>
          <a:xfrm>
            <a:off x="6400800" y="1554480"/>
            <a:ext cx="5120640" cy="4206240"/>
          </a:xfrm>
          <a:prstGeom prst="roundRect">
            <a:avLst>
              <a:gd name="adj" fmla="val 6000"/>
            </a:avLst>
          </a:prstGeom>
          <a:solidFill>
            <a:srgbClr val="1C1533"/>
          </a:solidFill>
          <a:ln w="2540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783080"/>
            <a:ext cx="5120640" cy="457200"/>
          </a:xfrm>
          <a:prstGeom prst="rect">
            <a:avLst/>
          </a:prstGeom>
          <a:noFill/>
        </p:spPr>
        <p:txBody>
          <a:bodyPr wrap="square" anchor="t">
            <a:spAutoFit/>
          </a:bodyPr>
          <a:lstStyle/>
          <a:p>
            <a:pPr algn="ctr">
              <a:lnSpc>
                <a:spcPct val="115000"/>
              </a:lnSpc>
              <a:spcAft>
                <a:spcPts val="400"/>
              </a:spcAft>
            </a:pPr>
            <a:r>
              <a:rPr sz="1900" b="1">
                <a:solidFill>
                  <a:srgbClr val="F0C64A"/>
                </a:solidFill>
                <a:latin typeface="Yu Mincho Demibold"/>
                <a:ea typeface="Yu Mincho Demibold"/>
              </a:rPr>
              <a:t>KIZUNA（新章）</a:t>
            </a:r>
          </a:p>
        </p:txBody>
      </p:sp>
      <p:sp>
        <p:nvSpPr>
          <p:cNvPr id="12" name="TextBox 11"/>
          <p:cNvSpPr txBox="1"/>
          <p:nvPr/>
        </p:nvSpPr>
        <p:spPr>
          <a:xfrm>
            <a:off x="6675120" y="2468880"/>
            <a:ext cx="4572000" cy="2286000"/>
          </a:xfrm>
          <a:prstGeom prst="rect">
            <a:avLst/>
          </a:prstGeom>
          <a:noFill/>
        </p:spPr>
        <p:txBody>
          <a:bodyPr wrap="square" anchor="t">
            <a:spAutoFit/>
          </a:bodyPr>
          <a:lstStyle/>
          <a:p>
            <a:pPr algn="ctr">
              <a:lnSpc>
                <a:spcPct val="100000"/>
              </a:lnSpc>
              <a:spcAft>
                <a:spcPts val="400"/>
              </a:spcAft>
            </a:pPr>
            <a:r>
              <a:rPr sz="1500" b="0">
                <a:solidFill>
                  <a:srgbClr val="EDE6D8"/>
                </a:solidFill>
                <a:latin typeface="Yu Gothic UI"/>
                <a:ea typeface="Yu Gothic UI"/>
              </a:rPr>
              <a:t>力尽きても次の仲間へ力を託す</a:t>
            </a:r>
          </a:p>
          <a:p>
            <a:pPr algn="ctr">
              <a:lnSpc>
                <a:spcPct val="100000"/>
              </a:lnSpc>
              <a:spcAft>
                <a:spcPts val="400"/>
              </a:spcAft>
            </a:pPr>
            <a:r>
              <a:rPr sz="1500" b="0">
                <a:solidFill>
                  <a:srgbClr val="EDE6D8"/>
                </a:solidFill>
                <a:latin typeface="Yu Gothic UI"/>
                <a:ea typeface="Yu Gothic UI"/>
              </a:rPr>
              <a:t>　↓</a:t>
            </a:r>
          </a:p>
          <a:p>
            <a:pPr algn="ctr">
              <a:lnSpc>
                <a:spcPct val="100000"/>
              </a:lnSpc>
              <a:spcAft>
                <a:spcPts val="400"/>
              </a:spcAft>
            </a:pPr>
            <a:r>
              <a:rPr sz="1500" b="0">
                <a:solidFill>
                  <a:srgbClr val="EDE6D8"/>
                </a:solidFill>
                <a:latin typeface="Yu Gothic UI"/>
                <a:ea typeface="Yu Gothic UI"/>
              </a:rPr>
              <a:t>受け取った力でさらに前へ</a:t>
            </a:r>
          </a:p>
          <a:p>
            <a:pPr algn="ctr">
              <a:lnSpc>
                <a:spcPct val="100000"/>
              </a:lnSpc>
              <a:spcAft>
                <a:spcPts val="400"/>
              </a:spcAft>
            </a:pPr>
            <a:r>
              <a:rPr sz="1500" b="0">
                <a:solidFill>
                  <a:srgbClr val="EDE6D8"/>
                </a:solidFill>
                <a:latin typeface="Yu Gothic UI"/>
                <a:ea typeface="Yu Gothic UI"/>
              </a:rPr>
              <a:t>　↓</a:t>
            </a:r>
          </a:p>
          <a:p>
            <a:pPr algn="ctr">
              <a:lnSpc>
                <a:spcPct val="100000"/>
              </a:lnSpc>
              <a:spcAft>
                <a:spcPts val="400"/>
              </a:spcAft>
            </a:pPr>
            <a:r>
              <a:rPr sz="1500" b="0">
                <a:solidFill>
                  <a:srgbClr val="EDE6D8"/>
                </a:solidFill>
                <a:latin typeface="Yu Gothic UI"/>
                <a:ea typeface="Yu Gothic UI"/>
              </a:rPr>
              <a:t>みんなの意志を繋いで頂上へ</a:t>
            </a:r>
          </a:p>
          <a:p>
            <a:pPr algn="ctr">
              <a:lnSpc>
                <a:spcPct val="100000"/>
              </a:lnSpc>
              <a:spcAft>
                <a:spcPts val="400"/>
              </a:spcAft>
            </a:pPr>
            <a:r>
              <a:rPr sz="1500" b="0">
                <a:solidFill>
                  <a:srgbClr val="EDE6D8"/>
                </a:solidFill>
                <a:latin typeface="Yu Gothic UI"/>
                <a:ea typeface="Yu Gothic UI"/>
              </a:rPr>
              <a:t>　↓</a:t>
            </a:r>
          </a:p>
          <a:p>
            <a:pPr algn="ctr">
              <a:lnSpc>
                <a:spcPct val="100000"/>
              </a:lnSpc>
              <a:spcAft>
                <a:spcPts val="400"/>
              </a:spcAft>
            </a:pPr>
            <a:r>
              <a:rPr sz="1500" b="1">
                <a:solidFill>
                  <a:srgbClr val="F0C64A"/>
                </a:solidFill>
                <a:latin typeface="Yu Gothic UI"/>
                <a:ea typeface="Yu Gothic UI"/>
              </a:rPr>
              <a:t>ギルド全員の力で塔を攻略</a:t>
            </a:r>
          </a:p>
        </p:txBody>
      </p:sp>
      <p:sp>
        <p:nvSpPr>
          <p:cNvPr id="13" name="TextBox 12"/>
          <p:cNvSpPr txBox="1"/>
          <p:nvPr/>
        </p:nvSpPr>
        <p:spPr>
          <a:xfrm>
            <a:off x="6309360" y="5120640"/>
            <a:ext cx="5303520" cy="548640"/>
          </a:xfrm>
          <a:prstGeom prst="rect">
            <a:avLst/>
          </a:prstGeom>
          <a:noFill/>
        </p:spPr>
        <p:txBody>
          <a:bodyPr wrap="square" anchor="t">
            <a:spAutoFit/>
          </a:bodyPr>
          <a:lstStyle/>
          <a:p>
            <a:pPr algn="ctr">
              <a:lnSpc>
                <a:spcPct val="115000"/>
              </a:lnSpc>
              <a:spcAft>
                <a:spcPts val="400"/>
              </a:spcAft>
            </a:pPr>
            <a:r>
              <a:rPr sz="1500" b="1">
                <a:solidFill>
                  <a:srgbClr val="F0C64A"/>
                </a:solidFill>
                <a:latin typeface="Yu Gothic UI"/>
                <a:ea typeface="Yu Gothic UI"/>
              </a:rPr>
              <a:t>自分が次の挑戦者を強くして、みんなでクリアする。</a:t>
            </a:r>
          </a:p>
        </p:txBody>
      </p:sp>
      <p:sp>
        <p:nvSpPr>
          <p:cNvPr id="14" name="Right Arrow 13"/>
          <p:cNvSpPr/>
          <p:nvPr/>
        </p:nvSpPr>
        <p:spPr>
          <a:xfrm>
            <a:off x="5806440" y="3383280"/>
            <a:ext cx="548640" cy="548640"/>
          </a:xfrm>
          <a:prstGeom prst="rightArrow">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3. 体験イメージ — 意志のリレー</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365760"/>
          </a:xfrm>
          <a:prstGeom prst="rect">
            <a:avLst/>
          </a:prstGeom>
          <a:noFill/>
        </p:spPr>
        <p:txBody>
          <a:bodyPr wrap="square" anchor="t">
            <a:spAutoFit/>
          </a:bodyPr>
          <a:lstStyle/>
          <a:p>
            <a:pPr algn="l">
              <a:lnSpc>
                <a:spcPct val="115000"/>
              </a:lnSpc>
              <a:spcAft>
                <a:spcPts val="400"/>
              </a:spcAft>
            </a:pPr>
            <a:r>
              <a:rPr sz="1300" b="0">
                <a:solidFill>
                  <a:srgbClr val="B9AFD0"/>
                </a:solidFill>
                <a:latin typeface="Yu Gothic UI"/>
                <a:ea typeface="Yu Gothic UI"/>
              </a:rPr>
              <a:t>コンセプトビジュアルより</a:t>
            </a:r>
          </a:p>
        </p:txBody>
      </p:sp>
      <p:sp>
        <p:nvSpPr>
          <p:cNvPr id="7" name="Rounded Rectangle 6"/>
          <p:cNvSpPr/>
          <p:nvPr/>
        </p:nvSpPr>
        <p:spPr>
          <a:xfrm>
            <a:off x="1097280" y="1554480"/>
            <a:ext cx="8412480" cy="9144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664208"/>
            <a:ext cx="7863840" cy="457200"/>
          </a:xfrm>
          <a:prstGeom prst="rect">
            <a:avLst/>
          </a:prstGeom>
          <a:noFill/>
        </p:spPr>
        <p:txBody>
          <a:bodyPr wrap="square" anchor="t">
            <a:spAutoFit/>
          </a:bodyPr>
          <a:lstStyle/>
          <a:p>
            <a:pPr algn="l">
              <a:lnSpc>
                <a:spcPct val="115000"/>
              </a:lnSpc>
              <a:spcAft>
                <a:spcPts val="400"/>
              </a:spcAft>
            </a:pPr>
            <a:r>
              <a:rPr sz="1700" b="1">
                <a:solidFill>
                  <a:srgbClr val="EDE6D8"/>
                </a:solidFill>
                <a:latin typeface="Yu Gothic UI"/>
                <a:ea typeface="Yu Gothic UI"/>
              </a:rPr>
              <a:t>「15Fで力尽きた…でも、宝と経験を残しておくよ！」</a:t>
            </a:r>
          </a:p>
        </p:txBody>
      </p:sp>
      <p:sp>
        <p:nvSpPr>
          <p:cNvPr id="9" name="TextBox 8"/>
          <p:cNvSpPr txBox="1"/>
          <p:nvPr/>
        </p:nvSpPr>
        <p:spPr>
          <a:xfrm>
            <a:off x="1371600" y="2057400"/>
            <a:ext cx="7863840" cy="320040"/>
          </a:xfrm>
          <a:prstGeom prst="rect">
            <a:avLst/>
          </a:prstGeom>
          <a:noFill/>
        </p:spPr>
        <p:txBody>
          <a:bodyPr wrap="square" anchor="t">
            <a:spAutoFit/>
          </a:bodyPr>
          <a:lstStyle/>
          <a:p>
            <a:pPr algn="l">
              <a:lnSpc>
                <a:spcPct val="115000"/>
              </a:lnSpc>
              <a:spcAft>
                <a:spcPts val="400"/>
              </a:spcAft>
            </a:pPr>
            <a:r>
              <a:rPr sz="1200" b="0">
                <a:solidFill>
                  <a:srgbClr val="B9AFD0"/>
                </a:solidFill>
                <a:latin typeface="Yu Gothic UI"/>
                <a:ea typeface="Yu Gothic UI"/>
              </a:rPr>
              <a:t>− 10分前</a:t>
            </a:r>
          </a:p>
        </p:txBody>
      </p:sp>
      <p:sp>
        <p:nvSpPr>
          <p:cNvPr id="10" name="Down Arrow 9"/>
          <p:cNvSpPr/>
          <p:nvPr/>
        </p:nvSpPr>
        <p:spPr>
          <a:xfrm>
            <a:off x="5120640" y="2487168"/>
            <a:ext cx="365760" cy="274320"/>
          </a:xfrm>
          <a:prstGeom prst="downArrow">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737360" y="2788920"/>
            <a:ext cx="8412480" cy="9144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11680" y="2898648"/>
            <a:ext cx="7863840" cy="457200"/>
          </a:xfrm>
          <a:prstGeom prst="rect">
            <a:avLst/>
          </a:prstGeom>
          <a:noFill/>
        </p:spPr>
        <p:txBody>
          <a:bodyPr wrap="square" anchor="t">
            <a:spAutoFit/>
          </a:bodyPr>
          <a:lstStyle/>
          <a:p>
            <a:pPr algn="l">
              <a:lnSpc>
                <a:spcPct val="115000"/>
              </a:lnSpc>
              <a:spcAft>
                <a:spcPts val="400"/>
              </a:spcAft>
            </a:pPr>
            <a:r>
              <a:rPr sz="1700" b="1">
                <a:solidFill>
                  <a:srgbClr val="EDE6D8"/>
                </a:solidFill>
                <a:latin typeface="Yu Gothic UI"/>
                <a:ea typeface="Yu Gothic UI"/>
              </a:rPr>
              <a:t>「ありがとう！その力で16Fを突破したよ！」</a:t>
            </a:r>
          </a:p>
        </p:txBody>
      </p:sp>
      <p:sp>
        <p:nvSpPr>
          <p:cNvPr id="13" name="TextBox 12"/>
          <p:cNvSpPr txBox="1"/>
          <p:nvPr/>
        </p:nvSpPr>
        <p:spPr>
          <a:xfrm>
            <a:off x="2011680" y="3291840"/>
            <a:ext cx="7863840" cy="320040"/>
          </a:xfrm>
          <a:prstGeom prst="rect">
            <a:avLst/>
          </a:prstGeom>
          <a:noFill/>
        </p:spPr>
        <p:txBody>
          <a:bodyPr wrap="square" anchor="t">
            <a:spAutoFit/>
          </a:bodyPr>
          <a:lstStyle/>
          <a:p>
            <a:pPr algn="l">
              <a:lnSpc>
                <a:spcPct val="115000"/>
              </a:lnSpc>
              <a:spcAft>
                <a:spcPts val="400"/>
              </a:spcAft>
            </a:pPr>
            <a:r>
              <a:rPr sz="1200" b="0">
                <a:solidFill>
                  <a:srgbClr val="B9AFD0"/>
                </a:solidFill>
                <a:latin typeface="Yu Gothic UI"/>
                <a:ea typeface="Yu Gothic UI"/>
              </a:rPr>
              <a:t>− 30分前</a:t>
            </a:r>
          </a:p>
        </p:txBody>
      </p:sp>
      <p:sp>
        <p:nvSpPr>
          <p:cNvPr id="14" name="Down Arrow 13"/>
          <p:cNvSpPr/>
          <p:nvPr/>
        </p:nvSpPr>
        <p:spPr>
          <a:xfrm>
            <a:off x="5760720" y="3721608"/>
            <a:ext cx="365760" cy="274320"/>
          </a:xfrm>
          <a:prstGeom prst="downArrow">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377439" y="4023360"/>
            <a:ext cx="8412480" cy="9144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4133088"/>
            <a:ext cx="7863840" cy="457200"/>
          </a:xfrm>
          <a:prstGeom prst="rect">
            <a:avLst/>
          </a:prstGeom>
          <a:noFill/>
        </p:spPr>
        <p:txBody>
          <a:bodyPr wrap="square" anchor="t">
            <a:spAutoFit/>
          </a:bodyPr>
          <a:lstStyle/>
          <a:p>
            <a:pPr algn="l">
              <a:lnSpc>
                <a:spcPct val="115000"/>
              </a:lnSpc>
              <a:spcAft>
                <a:spcPts val="400"/>
              </a:spcAft>
            </a:pPr>
            <a:r>
              <a:rPr sz="1700" b="1">
                <a:solidFill>
                  <a:srgbClr val="EDE6D8"/>
                </a:solidFill>
                <a:latin typeface="Yu Gothic UI"/>
                <a:ea typeface="Yu Gothic UI"/>
              </a:rPr>
              <a:t>「おかげで20Fまで来れた！次はきっと頂上へ…！」</a:t>
            </a:r>
          </a:p>
        </p:txBody>
      </p:sp>
      <p:sp>
        <p:nvSpPr>
          <p:cNvPr id="17" name="TextBox 16"/>
          <p:cNvSpPr txBox="1"/>
          <p:nvPr/>
        </p:nvSpPr>
        <p:spPr>
          <a:xfrm>
            <a:off x="2651760" y="4526280"/>
            <a:ext cx="7863840" cy="320040"/>
          </a:xfrm>
          <a:prstGeom prst="rect">
            <a:avLst/>
          </a:prstGeom>
          <a:noFill/>
        </p:spPr>
        <p:txBody>
          <a:bodyPr wrap="square" anchor="t">
            <a:spAutoFit/>
          </a:bodyPr>
          <a:lstStyle/>
          <a:p>
            <a:pPr algn="l">
              <a:lnSpc>
                <a:spcPct val="115000"/>
              </a:lnSpc>
              <a:spcAft>
                <a:spcPts val="400"/>
              </a:spcAft>
            </a:pPr>
            <a:r>
              <a:rPr sz="1200" b="0">
                <a:solidFill>
                  <a:srgbClr val="B9AFD0"/>
                </a:solidFill>
                <a:latin typeface="Yu Gothic UI"/>
                <a:ea typeface="Yu Gothic UI"/>
              </a:rPr>
              <a:t>− 1時間前</a:t>
            </a:r>
          </a:p>
        </p:txBody>
      </p:sp>
      <p:sp>
        <p:nvSpPr>
          <p:cNvPr id="18" name="TextBox 17"/>
          <p:cNvSpPr txBox="1"/>
          <p:nvPr/>
        </p:nvSpPr>
        <p:spPr>
          <a:xfrm>
            <a:off x="914400" y="5623560"/>
            <a:ext cx="10332720" cy="640080"/>
          </a:xfrm>
          <a:prstGeom prst="rect">
            <a:avLst/>
          </a:prstGeom>
          <a:noFill/>
        </p:spPr>
        <p:txBody>
          <a:bodyPr wrap="square" anchor="t">
            <a:spAutoFit/>
          </a:bodyPr>
          <a:lstStyle/>
          <a:p>
            <a:pPr algn="ctr">
              <a:lnSpc>
                <a:spcPct val="115000"/>
              </a:lnSpc>
              <a:spcAft>
                <a:spcPts val="400"/>
              </a:spcAft>
            </a:pPr>
            <a:r>
              <a:rPr sz="2400" b="1">
                <a:solidFill>
                  <a:srgbClr val="F0C64A"/>
                </a:solidFill>
                <a:latin typeface="Yu Mincho Demibold"/>
                <a:ea typeface="Yu Mincho Demibold"/>
              </a:rPr>
              <a:t>—— みんなの意志が、塔を登っていく。</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4. 新章の位置づけ（確定）</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63040"/>
            <a:ext cx="3017520" cy="105156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2743200" cy="86868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EbT内の1コンテンツ</a:t>
            </a:r>
          </a:p>
        </p:txBody>
      </p:sp>
      <p:sp>
        <p:nvSpPr>
          <p:cNvPr id="8" name="TextBox 7"/>
          <p:cNvSpPr txBox="1"/>
          <p:nvPr/>
        </p:nvSpPr>
        <p:spPr>
          <a:xfrm>
            <a:off x="3931920" y="1536192"/>
            <a:ext cx="7680960" cy="1005840"/>
          </a:xfrm>
          <a:prstGeom prst="rect">
            <a:avLst/>
          </a:prstGeom>
          <a:noFill/>
        </p:spPr>
        <p:txBody>
          <a:bodyPr wrap="square" anchor="ctr">
            <a:spAutoFit/>
          </a:bodyPr>
          <a:lstStyle/>
          <a:p>
            <a:pPr algn="l">
              <a:lnSpc>
                <a:spcPct val="115000"/>
              </a:lnSpc>
              <a:spcAft>
                <a:spcPts val="400"/>
              </a:spcAft>
            </a:pPr>
            <a:r>
              <a:rPr sz="1350" b="0">
                <a:solidFill>
                  <a:srgbClr val="EDE6D8"/>
                </a:solidFill>
                <a:latin typeface="Yu Gothic UI"/>
                <a:ea typeface="Yu Gothic UI"/>
              </a:rPr>
              <a:t>別ゲームではなくEbT内に制作。TOPのモード選択 or ひろばから「オンラインの世界へ」（仮）を選んで新章へ転生する入口イメージ</a:t>
            </a:r>
          </a:p>
        </p:txBody>
      </p:sp>
      <p:sp>
        <p:nvSpPr>
          <p:cNvPr id="9" name="Rounded Rectangle 8"/>
          <p:cNvSpPr/>
          <p:nvPr/>
        </p:nvSpPr>
        <p:spPr>
          <a:xfrm>
            <a:off x="640080" y="2697480"/>
            <a:ext cx="3017520" cy="105156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88920"/>
            <a:ext cx="2743200" cy="86868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やり切り型（クリアあり）</a:t>
            </a:r>
          </a:p>
        </p:txBody>
      </p:sp>
      <p:sp>
        <p:nvSpPr>
          <p:cNvPr id="11" name="TextBox 10"/>
          <p:cNvSpPr txBox="1"/>
          <p:nvPr/>
        </p:nvSpPr>
        <p:spPr>
          <a:xfrm>
            <a:off x="3931920" y="2770632"/>
            <a:ext cx="7680960" cy="1005840"/>
          </a:xfrm>
          <a:prstGeom prst="rect">
            <a:avLst/>
          </a:prstGeom>
          <a:noFill/>
        </p:spPr>
        <p:txBody>
          <a:bodyPr wrap="square" anchor="ctr">
            <a:spAutoFit/>
          </a:bodyPr>
          <a:lstStyle/>
          <a:p>
            <a:pPr algn="l">
              <a:lnSpc>
                <a:spcPct val="115000"/>
              </a:lnSpc>
              <a:spcAft>
                <a:spcPts val="400"/>
              </a:spcAft>
            </a:pPr>
            <a:r>
              <a:rPr sz="1350" b="0">
                <a:solidFill>
                  <a:srgbClr val="EDE6D8"/>
                </a:solidFill>
                <a:latin typeface="Yu Gothic UI"/>
                <a:ea typeface="Yu Gothic UI"/>
              </a:rPr>
              <a:t>協力クリア型ローグライク。エンドレス型の本編とはここが根本的に異なる。アップデートで上層階を追加する余地あり</a:t>
            </a:r>
          </a:p>
        </p:txBody>
      </p:sp>
      <p:sp>
        <p:nvSpPr>
          <p:cNvPr id="12" name="Rounded Rectangle 11"/>
          <p:cNvSpPr/>
          <p:nvPr/>
        </p:nvSpPr>
        <p:spPr>
          <a:xfrm>
            <a:off x="640080" y="3931920"/>
            <a:ext cx="3017520" cy="105156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23360"/>
            <a:ext cx="2743200" cy="86868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ストーリーモードあり</a:t>
            </a:r>
          </a:p>
        </p:txBody>
      </p:sp>
      <p:sp>
        <p:nvSpPr>
          <p:cNvPr id="14" name="TextBox 13"/>
          <p:cNvSpPr txBox="1"/>
          <p:nvPr/>
        </p:nvSpPr>
        <p:spPr>
          <a:xfrm>
            <a:off x="3931920" y="4005072"/>
            <a:ext cx="7680960" cy="1005840"/>
          </a:xfrm>
          <a:prstGeom prst="rect">
            <a:avLst/>
          </a:prstGeom>
          <a:noFill/>
        </p:spPr>
        <p:txBody>
          <a:bodyPr wrap="square" anchor="ctr">
            <a:spAutoFit/>
          </a:bodyPr>
          <a:lstStyle/>
          <a:p>
            <a:pPr algn="l">
              <a:lnSpc>
                <a:spcPct val="115000"/>
              </a:lnSpc>
              <a:spcAft>
                <a:spcPts val="400"/>
              </a:spcAft>
            </a:pPr>
            <a:r>
              <a:rPr sz="1350" b="0">
                <a:solidFill>
                  <a:srgbClr val="EDE6D8"/>
                </a:solidFill>
                <a:latin typeface="Yu Gothic UI"/>
                <a:ea typeface="Yu Gothic UI"/>
              </a:rPr>
              <a:t>コンテンツ名称で本編と切り分け。理想の体験アーク＝ストーリー性 → クリアへの盛り上がり → エンドロールの達成感</a:t>
            </a:r>
          </a:p>
        </p:txBody>
      </p:sp>
      <p:sp>
        <p:nvSpPr>
          <p:cNvPr id="15" name="Rounded Rectangle 14"/>
          <p:cNvSpPr/>
          <p:nvPr/>
        </p:nvSpPr>
        <p:spPr>
          <a:xfrm>
            <a:off x="640080" y="5166360"/>
            <a:ext cx="3017520" cy="105156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257800"/>
            <a:ext cx="2743200" cy="86868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マップは現行仕様を流用</a:t>
            </a:r>
          </a:p>
        </p:txBody>
      </p:sp>
      <p:sp>
        <p:nvSpPr>
          <p:cNvPr id="17" name="TextBox 16"/>
          <p:cNvSpPr txBox="1"/>
          <p:nvPr/>
        </p:nvSpPr>
        <p:spPr>
          <a:xfrm>
            <a:off x="3931920" y="5239512"/>
            <a:ext cx="7680960" cy="1005840"/>
          </a:xfrm>
          <a:prstGeom prst="rect">
            <a:avLst/>
          </a:prstGeom>
          <a:noFill/>
        </p:spPr>
        <p:txBody>
          <a:bodyPr wrap="square" anchor="ctr">
            <a:spAutoFit/>
          </a:bodyPr>
          <a:lstStyle/>
          <a:p>
            <a:pPr algn="l">
              <a:lnSpc>
                <a:spcPct val="115000"/>
              </a:lnSpc>
              <a:spcAft>
                <a:spcPts val="400"/>
              </a:spcAft>
            </a:pPr>
            <a:r>
              <a:rPr sz="1350" b="0">
                <a:solidFill>
                  <a:srgbClr val="EDE6D8"/>
                </a:solidFill>
                <a:latin typeface="Yu Gothic UI"/>
                <a:ea typeface="Yu Gothic UI"/>
              </a:rPr>
              <a:t>マップ・基礎構成は現行EbTの仕様にまるまる乗せる（新規マップシステムの開発はしない）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5. 継承システム — 4類型の採否</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365760"/>
          </a:xfrm>
          <a:prstGeom prst="rect">
            <a:avLst/>
          </a:prstGeom>
          <a:noFill/>
        </p:spPr>
        <p:txBody>
          <a:bodyPr wrap="square" anchor="t">
            <a:spAutoFit/>
          </a:bodyPr>
          <a:lstStyle/>
          <a:p>
            <a:pPr algn="l">
              <a:lnSpc>
                <a:spcPct val="115000"/>
              </a:lnSpc>
              <a:spcAft>
                <a:spcPts val="400"/>
              </a:spcAft>
            </a:pPr>
            <a:r>
              <a:rPr sz="1300" b="0">
                <a:solidFill>
                  <a:srgbClr val="B9AFD0"/>
                </a:solidFill>
                <a:latin typeface="Yu Gothic UI"/>
                <a:ea typeface="Yu Gothic UI"/>
              </a:rPr>
              <a:t>方向性確定：③＋④の組み合わせが核</a:t>
            </a:r>
          </a:p>
        </p:txBody>
      </p:sp>
      <p:sp>
        <p:nvSpPr>
          <p:cNvPr id="7" name="Rounded Rectangle 6"/>
          <p:cNvSpPr/>
          <p:nvPr/>
        </p:nvSpPr>
        <p:spPr>
          <a:xfrm>
            <a:off x="640080" y="1508760"/>
            <a:ext cx="10881360" cy="1051560"/>
          </a:xfrm>
          <a:prstGeom prst="roundRect">
            <a:avLst>
              <a:gd name="adj" fmla="val 6000"/>
            </a:avLst>
          </a:prstGeom>
          <a:solidFill>
            <a:srgbClr val="1C1533"/>
          </a:solidFill>
          <a:ln w="12700">
            <a:solidFill>
              <a:srgbClr val="8A8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81912"/>
            <a:ext cx="2651760" cy="914400"/>
          </a:xfrm>
          <a:prstGeom prst="rect">
            <a:avLst/>
          </a:prstGeom>
          <a:noFill/>
        </p:spPr>
        <p:txBody>
          <a:bodyPr wrap="square" anchor="ctr">
            <a:spAutoFit/>
          </a:bodyPr>
          <a:lstStyle/>
          <a:p>
            <a:pPr algn="l">
              <a:lnSpc>
                <a:spcPct val="115000"/>
              </a:lnSpc>
              <a:spcAft>
                <a:spcPts val="400"/>
              </a:spcAft>
            </a:pPr>
            <a:r>
              <a:rPr sz="1400" b="1">
                <a:solidFill>
                  <a:srgbClr val="8A849C"/>
                </a:solidFill>
                <a:latin typeface="Yu Gothic UI"/>
                <a:ea typeface="Yu Gothic UI"/>
              </a:rPr>
              <a:t>① ステータス合算型</a:t>
            </a:r>
          </a:p>
        </p:txBody>
      </p:sp>
      <p:sp>
        <p:nvSpPr>
          <p:cNvPr id="9" name="TextBox 8"/>
          <p:cNvSpPr txBox="1"/>
          <p:nvPr/>
        </p:nvSpPr>
        <p:spPr>
          <a:xfrm>
            <a:off x="3520440" y="1581912"/>
            <a:ext cx="3291840" cy="914400"/>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死んだ仲間のステータスの一部を次の仲間へ永久加算</a:t>
            </a:r>
          </a:p>
        </p:txBody>
      </p:sp>
      <p:sp>
        <p:nvSpPr>
          <p:cNvPr id="10" name="TextBox 9"/>
          <p:cNvSpPr txBox="1"/>
          <p:nvPr/>
        </p:nvSpPr>
        <p:spPr>
          <a:xfrm>
            <a:off x="6903720" y="1581912"/>
            <a:ext cx="1325880" cy="914400"/>
          </a:xfrm>
          <a:prstGeom prst="rect">
            <a:avLst/>
          </a:prstGeom>
          <a:noFill/>
        </p:spPr>
        <p:txBody>
          <a:bodyPr wrap="square" anchor="ctr">
            <a:spAutoFit/>
          </a:bodyPr>
          <a:lstStyle/>
          <a:p>
            <a:pPr algn="l">
              <a:lnSpc>
                <a:spcPct val="115000"/>
              </a:lnSpc>
              <a:spcAft>
                <a:spcPts val="400"/>
              </a:spcAft>
            </a:pPr>
            <a:r>
              <a:rPr sz="1300" b="1">
                <a:solidFill>
                  <a:srgbClr val="8A849C"/>
                </a:solidFill>
                <a:latin typeface="Yu Gothic UI"/>
                <a:ea typeface="Yu Gothic UI"/>
              </a:rPr>
              <a:t>△ 主軸にしない</a:t>
            </a:r>
          </a:p>
        </p:txBody>
      </p:sp>
      <p:sp>
        <p:nvSpPr>
          <p:cNvPr id="11" name="TextBox 10"/>
          <p:cNvSpPr txBox="1"/>
          <p:nvPr/>
        </p:nvSpPr>
        <p:spPr>
          <a:xfrm>
            <a:off x="8275320" y="1581912"/>
            <a:ext cx="3108960" cy="914400"/>
          </a:xfrm>
          <a:prstGeom prst="rect">
            <a:avLst/>
          </a:prstGeom>
          <a:noFill/>
        </p:spPr>
        <p:txBody>
          <a:bodyPr wrap="square" anchor="ctr">
            <a:spAutoFit/>
          </a:bodyPr>
          <a:lstStyle/>
          <a:p>
            <a:pPr algn="l">
              <a:lnSpc>
                <a:spcPct val="115000"/>
              </a:lnSpc>
              <a:spcAft>
                <a:spcPts val="400"/>
              </a:spcAft>
            </a:pPr>
            <a:r>
              <a:rPr sz="1100" b="0">
                <a:solidFill>
                  <a:srgbClr val="B9AFD0"/>
                </a:solidFill>
                <a:latin typeface="Yu Gothic UI"/>
                <a:ea typeface="Yu Gothic UI"/>
              </a:rPr>
              <a:t>「他者への貢献」を表現しにくい。ギルドツリー解禁後の微増ボーナス扱い</a:t>
            </a:r>
          </a:p>
        </p:txBody>
      </p:sp>
      <p:sp>
        <p:nvSpPr>
          <p:cNvPr id="12" name="Rounded Rectangle 11"/>
          <p:cNvSpPr/>
          <p:nvPr/>
        </p:nvSpPr>
        <p:spPr>
          <a:xfrm>
            <a:off x="640080" y="2715768"/>
            <a:ext cx="10881360" cy="1051560"/>
          </a:xfrm>
          <a:prstGeom prst="roundRect">
            <a:avLst>
              <a:gd name="adj" fmla="val 6000"/>
            </a:avLst>
          </a:prstGeom>
          <a:solidFill>
            <a:srgbClr val="1C1533"/>
          </a:solidFill>
          <a:ln w="12700">
            <a:solidFill>
              <a:srgbClr val="8A8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788920"/>
            <a:ext cx="2651760" cy="914400"/>
          </a:xfrm>
          <a:prstGeom prst="rect">
            <a:avLst/>
          </a:prstGeom>
          <a:noFill/>
        </p:spPr>
        <p:txBody>
          <a:bodyPr wrap="square" anchor="ctr">
            <a:spAutoFit/>
          </a:bodyPr>
          <a:lstStyle/>
          <a:p>
            <a:pPr algn="l">
              <a:lnSpc>
                <a:spcPct val="115000"/>
              </a:lnSpc>
              <a:spcAft>
                <a:spcPts val="400"/>
              </a:spcAft>
            </a:pPr>
            <a:r>
              <a:rPr sz="1400" b="1">
                <a:solidFill>
                  <a:srgbClr val="8A849C"/>
                </a:solidFill>
                <a:latin typeface="Yu Gothic UI"/>
                <a:ea typeface="Yu Gothic UI"/>
              </a:rPr>
              <a:t>② スキル選択・融合型</a:t>
            </a:r>
          </a:p>
        </p:txBody>
      </p:sp>
      <p:sp>
        <p:nvSpPr>
          <p:cNvPr id="14" name="TextBox 13"/>
          <p:cNvSpPr txBox="1"/>
          <p:nvPr/>
        </p:nvSpPr>
        <p:spPr>
          <a:xfrm>
            <a:off x="3520440" y="2788920"/>
            <a:ext cx="3291840" cy="914400"/>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死者の必殺技/パッシブを遺品・魂として選んでセット</a:t>
            </a:r>
          </a:p>
        </p:txBody>
      </p:sp>
      <p:sp>
        <p:nvSpPr>
          <p:cNvPr id="15" name="TextBox 14"/>
          <p:cNvSpPr txBox="1"/>
          <p:nvPr/>
        </p:nvSpPr>
        <p:spPr>
          <a:xfrm>
            <a:off x="6903720" y="2788920"/>
            <a:ext cx="1325880" cy="914400"/>
          </a:xfrm>
          <a:prstGeom prst="rect">
            <a:avLst/>
          </a:prstGeom>
          <a:noFill/>
        </p:spPr>
        <p:txBody>
          <a:bodyPr wrap="square" anchor="ctr">
            <a:spAutoFit/>
          </a:bodyPr>
          <a:lstStyle/>
          <a:p>
            <a:pPr algn="l">
              <a:lnSpc>
                <a:spcPct val="115000"/>
              </a:lnSpc>
              <a:spcAft>
                <a:spcPts val="400"/>
              </a:spcAft>
            </a:pPr>
            <a:r>
              <a:rPr sz="1300" b="1">
                <a:solidFill>
                  <a:srgbClr val="8A849C"/>
                </a:solidFill>
                <a:latin typeface="Yu Gothic UI"/>
                <a:ea typeface="Yu Gothic UI"/>
              </a:rPr>
              <a:t>△ 初期は見送り</a:t>
            </a:r>
          </a:p>
        </p:txBody>
      </p:sp>
      <p:sp>
        <p:nvSpPr>
          <p:cNvPr id="16" name="TextBox 15"/>
          <p:cNvSpPr txBox="1"/>
          <p:nvPr/>
        </p:nvSpPr>
        <p:spPr>
          <a:xfrm>
            <a:off x="8275320" y="2788920"/>
            <a:ext cx="3108960" cy="914400"/>
          </a:xfrm>
          <a:prstGeom prst="rect">
            <a:avLst/>
          </a:prstGeom>
          <a:noFill/>
        </p:spPr>
        <p:txBody>
          <a:bodyPr wrap="square" anchor="ctr">
            <a:spAutoFit/>
          </a:bodyPr>
          <a:lstStyle/>
          <a:p>
            <a:pPr algn="l">
              <a:lnSpc>
                <a:spcPct val="115000"/>
              </a:lnSpc>
              <a:spcAft>
                <a:spcPts val="400"/>
              </a:spcAft>
            </a:pPr>
            <a:r>
              <a:rPr sz="1100" b="0">
                <a:solidFill>
                  <a:srgbClr val="B9AFD0"/>
                </a:solidFill>
                <a:latin typeface="Yu Gothic UI"/>
                <a:ea typeface="Yu Gothic UI"/>
              </a:rPr>
              <a:t>物語性は最強だがコスト重。将来「形見のパッシブ1つ」として③④へ統合</a:t>
            </a:r>
          </a:p>
        </p:txBody>
      </p:sp>
      <p:sp>
        <p:nvSpPr>
          <p:cNvPr id="17" name="Rounded Rectangle 16"/>
          <p:cNvSpPr/>
          <p:nvPr/>
        </p:nvSpPr>
        <p:spPr>
          <a:xfrm>
            <a:off x="640080" y="3922776"/>
            <a:ext cx="10881360" cy="1051560"/>
          </a:xfrm>
          <a:prstGeom prst="roundRect">
            <a:avLst>
              <a:gd name="adj" fmla="val 6000"/>
            </a:avLst>
          </a:prstGeom>
          <a:solidFill>
            <a:srgbClr val="1C1533"/>
          </a:solidFill>
          <a:ln w="2286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995928"/>
            <a:ext cx="2651760" cy="914400"/>
          </a:xfrm>
          <a:prstGeom prst="rect">
            <a:avLst/>
          </a:prstGeom>
          <a:noFill/>
        </p:spPr>
        <p:txBody>
          <a:bodyPr wrap="square" anchor="ctr">
            <a:spAutoFit/>
          </a:bodyPr>
          <a:lstStyle/>
          <a:p>
            <a:pPr algn="l">
              <a:lnSpc>
                <a:spcPct val="115000"/>
              </a:lnSpc>
              <a:spcAft>
                <a:spcPts val="400"/>
              </a:spcAft>
            </a:pPr>
            <a:r>
              <a:rPr sz="1400" b="1">
                <a:solidFill>
                  <a:srgbClr val="F0C64A"/>
                </a:solidFill>
                <a:latin typeface="Yu Gothic UI"/>
                <a:ea typeface="Yu Gothic UI"/>
              </a:rPr>
              <a:t>③ ツリー解禁型（家系図）</a:t>
            </a:r>
          </a:p>
        </p:txBody>
      </p:sp>
      <p:sp>
        <p:nvSpPr>
          <p:cNvPr id="19" name="TextBox 18"/>
          <p:cNvSpPr txBox="1"/>
          <p:nvPr/>
        </p:nvSpPr>
        <p:spPr>
          <a:xfrm>
            <a:off x="3520440" y="3995928"/>
            <a:ext cx="3291840" cy="914400"/>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死者の実績ポイントで一族全体の強化ツリーをアンロック</a:t>
            </a:r>
          </a:p>
        </p:txBody>
      </p:sp>
      <p:sp>
        <p:nvSpPr>
          <p:cNvPr id="20" name="TextBox 19"/>
          <p:cNvSpPr txBox="1"/>
          <p:nvPr/>
        </p:nvSpPr>
        <p:spPr>
          <a:xfrm>
            <a:off x="6903720" y="3995928"/>
            <a:ext cx="1325880" cy="914400"/>
          </a:xfrm>
          <a:prstGeom prst="rect">
            <a:avLst/>
          </a:prstGeom>
          <a:noFill/>
        </p:spPr>
        <p:txBody>
          <a:bodyPr wrap="square" anchor="ctr">
            <a:spAutoFit/>
          </a:bodyPr>
          <a:lstStyle/>
          <a:p>
            <a:pPr algn="l">
              <a:lnSpc>
                <a:spcPct val="115000"/>
              </a:lnSpc>
              <a:spcAft>
                <a:spcPts val="400"/>
              </a:spcAft>
            </a:pPr>
            <a:r>
              <a:rPr sz="1300" b="1">
                <a:solidFill>
                  <a:srgbClr val="F0C64A"/>
                </a:solidFill>
                <a:latin typeface="Yu Gothic UI"/>
                <a:ea typeface="Yu Gothic UI"/>
              </a:rPr>
              <a:t>◎ 採用</a:t>
            </a:r>
          </a:p>
        </p:txBody>
      </p:sp>
      <p:sp>
        <p:nvSpPr>
          <p:cNvPr id="21" name="TextBox 20"/>
          <p:cNvSpPr txBox="1"/>
          <p:nvPr/>
        </p:nvSpPr>
        <p:spPr>
          <a:xfrm>
            <a:off x="8275320" y="3995928"/>
            <a:ext cx="3108960" cy="914400"/>
          </a:xfrm>
          <a:prstGeom prst="rect">
            <a:avLst/>
          </a:prstGeom>
          <a:noFill/>
        </p:spPr>
        <p:txBody>
          <a:bodyPr wrap="square" anchor="ctr">
            <a:spAutoFit/>
          </a:bodyPr>
          <a:lstStyle/>
          <a:p>
            <a:pPr algn="l">
              <a:lnSpc>
                <a:spcPct val="115000"/>
              </a:lnSpc>
              <a:spcAft>
                <a:spcPts val="400"/>
              </a:spcAft>
            </a:pPr>
            <a:r>
              <a:rPr sz="1100" b="0">
                <a:solidFill>
                  <a:srgbClr val="B9AFD0"/>
                </a:solidFill>
                <a:latin typeface="Yu Gothic UI"/>
                <a:ea typeface="Yu Gothic UI"/>
              </a:rPr>
              <a:t>一族＝ギルド全体と読み替え。誰の死も共有ツリーに貢献＝「死亡＝貢献」が自然に成立</a:t>
            </a:r>
          </a:p>
        </p:txBody>
      </p:sp>
      <p:sp>
        <p:nvSpPr>
          <p:cNvPr id="22" name="Rounded Rectangle 21"/>
          <p:cNvSpPr/>
          <p:nvPr/>
        </p:nvSpPr>
        <p:spPr>
          <a:xfrm>
            <a:off x="640080" y="5129783"/>
            <a:ext cx="10881360" cy="1051560"/>
          </a:xfrm>
          <a:prstGeom prst="roundRect">
            <a:avLst>
              <a:gd name="adj" fmla="val 6000"/>
            </a:avLst>
          </a:prstGeom>
          <a:solidFill>
            <a:srgbClr val="1C1533"/>
          </a:solidFill>
          <a:ln w="2286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02935"/>
            <a:ext cx="2651760" cy="914400"/>
          </a:xfrm>
          <a:prstGeom prst="rect">
            <a:avLst/>
          </a:prstGeom>
          <a:noFill/>
        </p:spPr>
        <p:txBody>
          <a:bodyPr wrap="square" anchor="ctr">
            <a:spAutoFit/>
          </a:bodyPr>
          <a:lstStyle/>
          <a:p>
            <a:pPr algn="l">
              <a:lnSpc>
                <a:spcPct val="115000"/>
              </a:lnSpc>
              <a:spcAft>
                <a:spcPts val="400"/>
              </a:spcAft>
            </a:pPr>
            <a:r>
              <a:rPr sz="1400" b="1">
                <a:solidFill>
                  <a:srgbClr val="F0C64A"/>
                </a:solidFill>
                <a:latin typeface="Yu Gothic UI"/>
                <a:ea typeface="Yu Gothic UI"/>
              </a:rPr>
              <a:t>④ リソース限定型（形見）</a:t>
            </a:r>
          </a:p>
        </p:txBody>
      </p:sp>
      <p:sp>
        <p:nvSpPr>
          <p:cNvPr id="24" name="TextBox 23"/>
          <p:cNvSpPr txBox="1"/>
          <p:nvPr/>
        </p:nvSpPr>
        <p:spPr>
          <a:xfrm>
            <a:off x="3520440" y="5202935"/>
            <a:ext cx="3291840" cy="914400"/>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死者の装備1つ or 最高ステータス1つを選択して継承</a:t>
            </a:r>
          </a:p>
        </p:txBody>
      </p:sp>
      <p:sp>
        <p:nvSpPr>
          <p:cNvPr id="25" name="TextBox 24"/>
          <p:cNvSpPr txBox="1"/>
          <p:nvPr/>
        </p:nvSpPr>
        <p:spPr>
          <a:xfrm>
            <a:off x="6903720" y="5202935"/>
            <a:ext cx="1325880" cy="914400"/>
          </a:xfrm>
          <a:prstGeom prst="rect">
            <a:avLst/>
          </a:prstGeom>
          <a:noFill/>
        </p:spPr>
        <p:txBody>
          <a:bodyPr wrap="square" anchor="ctr">
            <a:spAutoFit/>
          </a:bodyPr>
          <a:lstStyle/>
          <a:p>
            <a:pPr algn="l">
              <a:lnSpc>
                <a:spcPct val="115000"/>
              </a:lnSpc>
              <a:spcAft>
                <a:spcPts val="400"/>
              </a:spcAft>
            </a:pPr>
            <a:r>
              <a:rPr sz="1300" b="1">
                <a:solidFill>
                  <a:srgbClr val="F0C64A"/>
                </a:solidFill>
                <a:latin typeface="Yu Gothic UI"/>
                <a:ea typeface="Yu Gothic UI"/>
              </a:rPr>
              <a:t>◎ 採用</a:t>
            </a:r>
          </a:p>
        </p:txBody>
      </p:sp>
      <p:sp>
        <p:nvSpPr>
          <p:cNvPr id="26" name="TextBox 25"/>
          <p:cNvSpPr txBox="1"/>
          <p:nvPr/>
        </p:nvSpPr>
        <p:spPr>
          <a:xfrm>
            <a:off x="8275320" y="5202935"/>
            <a:ext cx="3108960" cy="914400"/>
          </a:xfrm>
          <a:prstGeom prst="rect">
            <a:avLst/>
          </a:prstGeom>
          <a:noFill/>
        </p:spPr>
        <p:txBody>
          <a:bodyPr wrap="square" anchor="ctr">
            <a:spAutoFit/>
          </a:bodyPr>
          <a:lstStyle/>
          <a:p>
            <a:pPr algn="l">
              <a:lnSpc>
                <a:spcPct val="115000"/>
              </a:lnSpc>
              <a:spcAft>
                <a:spcPts val="400"/>
              </a:spcAft>
            </a:pPr>
            <a:r>
              <a:rPr sz="1100" b="0">
                <a:solidFill>
                  <a:srgbClr val="B9AFD0"/>
                </a:solidFill>
                <a:latin typeface="Yu Gothic UI"/>
                <a:ea typeface="Yu Gothic UI"/>
              </a:rPr>
              <a:t>ドッペルゲンガーと直結。「誰かの犠牲→誰かの前進」を1アクションで体験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6. 採用した2つの継承の中身</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63040"/>
            <a:ext cx="5394960" cy="4846320"/>
          </a:xfrm>
          <a:prstGeom prst="roundRect">
            <a:avLst>
              <a:gd name="adj" fmla="val 6000"/>
            </a:avLst>
          </a:prstGeom>
          <a:solidFill>
            <a:srgbClr val="1C1533"/>
          </a:solidFill>
          <a:ln w="2286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691640"/>
            <a:ext cx="5394960" cy="457200"/>
          </a:xfrm>
          <a:prstGeom prst="rect">
            <a:avLst/>
          </a:prstGeom>
          <a:noFill/>
        </p:spPr>
        <p:txBody>
          <a:bodyPr wrap="square" anchor="t">
            <a:spAutoFit/>
          </a:bodyPr>
          <a:lstStyle/>
          <a:p>
            <a:pPr algn="ctr">
              <a:lnSpc>
                <a:spcPct val="115000"/>
              </a:lnSpc>
              <a:spcAft>
                <a:spcPts val="400"/>
              </a:spcAft>
            </a:pPr>
            <a:r>
              <a:rPr sz="1800" b="1">
                <a:solidFill>
                  <a:srgbClr val="F0C64A"/>
                </a:solidFill>
                <a:latin typeface="Yu Mincho Demibold"/>
                <a:ea typeface="Yu Mincho Demibold"/>
              </a:rPr>
              <a:t>③ ギルド共有「塔攻略ツリー」</a:t>
            </a:r>
          </a:p>
        </p:txBody>
      </p:sp>
      <p:sp>
        <p:nvSpPr>
          <p:cNvPr id="8" name="TextBox 7"/>
          <p:cNvSpPr txBox="1"/>
          <p:nvPr/>
        </p:nvSpPr>
        <p:spPr>
          <a:xfrm>
            <a:off x="960120" y="2377440"/>
            <a:ext cx="4846320" cy="3657600"/>
          </a:xfrm>
          <a:prstGeom prst="rect">
            <a:avLst/>
          </a:prstGeom>
          <a:noFill/>
        </p:spPr>
        <p:txBody>
          <a:bodyPr wrap="square" anchor="t">
            <a:spAutoFit/>
          </a:bodyPr>
          <a:lstStyle/>
          <a:p>
            <a:pPr algn="l">
              <a:lnSpc>
                <a:spcPct val="115000"/>
              </a:lnSpc>
              <a:spcAft>
                <a:spcPts val="400"/>
              </a:spcAft>
            </a:pPr>
            <a:r>
              <a:rPr sz="1400" b="0">
                <a:solidFill>
                  <a:srgbClr val="EDE6D8"/>
                </a:solidFill>
                <a:latin typeface="Yu Gothic UI"/>
                <a:ea typeface="Yu Gothic UI"/>
              </a:rPr>
              <a:t>・誰が死んでも</a:t>
            </a:r>
            <a:r>
              <a:rPr sz="1400" b="1">
                <a:solidFill>
                  <a:srgbClr val="F0C64A"/>
                </a:solidFill>
                <a:latin typeface="Yu Gothic UI"/>
                <a:ea typeface="Yu Gothic UI"/>
              </a:rPr>
              <a:t>貢献値がギルド全体に加算 → ツリー解禁</a:t>
            </a:r>
          </a:p>
          <a:p>
            <a:pPr algn="l">
              <a:lnSpc>
                <a:spcPct val="115000"/>
              </a:lnSpc>
              <a:spcAft>
                <a:spcPts val="400"/>
              </a:spcAft>
            </a:pPr>
            <a:r>
              <a:rPr sz="1400" b="0">
                <a:solidFill>
                  <a:srgbClr val="EDE6D8"/>
                </a:solidFill>
                <a:latin typeface="Yu Gothic UI"/>
                <a:ea typeface="Yu Gothic UI"/>
              </a:rPr>
              <a:t>・「みんなで攻略する」の骨格</a:t>
            </a:r>
          </a:p>
          <a:p>
            <a:pPr algn="l">
              <a:lnSpc>
                <a:spcPct val="115000"/>
              </a:lnSpc>
              <a:spcAft>
                <a:spcPts val="400"/>
              </a:spcAft>
            </a:pPr>
            <a:r>
              <a:rPr sz="1400" b="0">
                <a:solidFill>
                  <a:srgbClr val="EDE6D8"/>
                </a:solidFill>
                <a:latin typeface="Yu Gothic UI"/>
                <a:ea typeface="Yu Gothic UI"/>
              </a:rPr>
              <a:t>・ツリー内容の候補：固定の全員共有ステータス or パッシブスキル（モコ案）</a:t>
            </a:r>
          </a:p>
          <a:p>
            <a:pPr algn="l">
              <a:lnSpc>
                <a:spcPct val="115000"/>
              </a:lnSpc>
              <a:spcAft>
                <a:spcPts val="400"/>
              </a:spcAft>
            </a:pPr>
            <a:r>
              <a:rPr sz="1400" b="0">
                <a:solidFill>
                  <a:srgbClr val="EDE6D8"/>
                </a:solidFill>
                <a:latin typeface="Yu Gothic UI"/>
                <a:ea typeface="Yu Gothic UI"/>
              </a:rPr>
              <a:t>・転生後のフルポイント分岐で個人のプレイスタイルの幅も担保（要詳細化）</a:t>
            </a:r>
          </a:p>
        </p:txBody>
      </p:sp>
      <p:sp>
        <p:nvSpPr>
          <p:cNvPr id="9" name="Rounded Rectangle 8"/>
          <p:cNvSpPr/>
          <p:nvPr/>
        </p:nvSpPr>
        <p:spPr>
          <a:xfrm>
            <a:off x="6355080" y="1463040"/>
            <a:ext cx="5394960" cy="4846320"/>
          </a:xfrm>
          <a:prstGeom prst="roundRect">
            <a:avLst>
              <a:gd name="adj" fmla="val 6000"/>
            </a:avLst>
          </a:prstGeom>
          <a:solidFill>
            <a:srgbClr val="1C1533"/>
          </a:solidFill>
          <a:ln w="2286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691640"/>
            <a:ext cx="5394960" cy="457200"/>
          </a:xfrm>
          <a:prstGeom prst="rect">
            <a:avLst/>
          </a:prstGeom>
          <a:noFill/>
        </p:spPr>
        <p:txBody>
          <a:bodyPr wrap="square" anchor="t">
            <a:spAutoFit/>
          </a:bodyPr>
          <a:lstStyle/>
          <a:p>
            <a:pPr algn="ctr">
              <a:lnSpc>
                <a:spcPct val="115000"/>
              </a:lnSpc>
              <a:spcAft>
                <a:spcPts val="400"/>
              </a:spcAft>
            </a:pPr>
            <a:r>
              <a:rPr sz="1800" b="1">
                <a:solidFill>
                  <a:srgbClr val="F0C64A"/>
                </a:solidFill>
                <a:latin typeface="Yu Mincho Demibold"/>
                <a:ea typeface="Yu Mincho Demibold"/>
              </a:rPr>
              <a:t>④ 形見セレクト（ドッペル拡張）</a:t>
            </a:r>
          </a:p>
        </p:txBody>
      </p:sp>
      <p:sp>
        <p:nvSpPr>
          <p:cNvPr id="11" name="TextBox 10"/>
          <p:cNvSpPr txBox="1"/>
          <p:nvPr/>
        </p:nvSpPr>
        <p:spPr>
          <a:xfrm>
            <a:off x="6675120" y="2377440"/>
            <a:ext cx="4846320" cy="3840480"/>
          </a:xfrm>
          <a:prstGeom prst="rect">
            <a:avLst/>
          </a:prstGeom>
          <a:noFill/>
        </p:spPr>
        <p:txBody>
          <a:bodyPr wrap="square" anchor="t">
            <a:spAutoFit/>
          </a:bodyPr>
          <a:lstStyle/>
          <a:p>
            <a:pPr algn="l">
              <a:lnSpc>
                <a:spcPct val="115000"/>
              </a:lnSpc>
              <a:spcAft>
                <a:spcPts val="400"/>
              </a:spcAft>
            </a:pPr>
            <a:r>
              <a:rPr sz="1400" b="0">
                <a:solidFill>
                  <a:srgbClr val="EDE6D8"/>
                </a:solidFill>
                <a:latin typeface="Yu Gothic UI"/>
                <a:ea typeface="Yu Gothic UI"/>
              </a:rPr>
              <a:t>・既存ドッペルゲンガー（死亡キャラ登録 → 他PLの±10階に出現 → 撃破）の上に載せる</a:t>
            </a:r>
          </a:p>
          <a:p>
            <a:pPr algn="l">
              <a:lnSpc>
                <a:spcPct val="115000"/>
              </a:lnSpc>
              <a:spcAft>
                <a:spcPts val="400"/>
              </a:spcAft>
            </a:pPr>
            <a:r>
              <a:rPr sz="1400" b="0">
                <a:solidFill>
                  <a:srgbClr val="EDE6D8"/>
                </a:solidFill>
                <a:latin typeface="Yu Gothic UI"/>
                <a:ea typeface="Yu Gothic UI"/>
              </a:rPr>
              <a:t>・撃破時にモーダルで1つ選択する形へ拡張：</a:t>
            </a:r>
          </a:p>
          <a:p>
            <a:pPr algn="l">
              <a:lnSpc>
                <a:spcPct val="115000"/>
              </a:lnSpc>
              <a:spcAft>
                <a:spcPts val="400"/>
              </a:spcAft>
            </a:pPr>
            <a:r>
              <a:rPr sz="1400" b="0">
                <a:solidFill>
                  <a:srgbClr val="F0C64A"/>
                </a:solidFill>
                <a:latin typeface="Yu Gothic UI"/>
                <a:ea typeface="Yu Gothic UI"/>
              </a:rPr>
              <a:t>　1. 装備1つ</a:t>
            </a:r>
            <a:r>
              <a:rPr sz="1200" b="0">
                <a:solidFill>
                  <a:srgbClr val="B9AFD0"/>
                </a:solidFill>
                <a:latin typeface="Yu Gothic UI"/>
                <a:ea typeface="Yu Gothic UI"/>
              </a:rPr>
              <a:t>（equipmentから選択）</a:t>
            </a:r>
          </a:p>
          <a:p>
            <a:pPr algn="l">
              <a:lnSpc>
                <a:spcPct val="115000"/>
              </a:lnSpc>
              <a:spcAft>
                <a:spcPts val="400"/>
              </a:spcAft>
            </a:pPr>
            <a:r>
              <a:rPr sz="1400" b="0">
                <a:solidFill>
                  <a:srgbClr val="F0C64A"/>
                </a:solidFill>
                <a:latin typeface="Yu Gothic UI"/>
                <a:ea typeface="Yu Gothic UI"/>
              </a:rPr>
              <a:t>　2. 最高ステータス1点</a:t>
            </a:r>
            <a:r>
              <a:rPr sz="1200" b="0">
                <a:solidFill>
                  <a:srgbClr val="B9AFD0"/>
                </a:solidFill>
                <a:latin typeface="Yu Gothic UI"/>
                <a:ea typeface="Yu Gothic UI"/>
              </a:rPr>
              <a:t>（str/agi/dex/int/vit/lukの最大値）</a:t>
            </a:r>
          </a:p>
          <a:p>
            <a:pPr algn="l">
              <a:lnSpc>
                <a:spcPct val="115000"/>
              </a:lnSpc>
              <a:spcAft>
                <a:spcPts val="400"/>
              </a:spcAft>
            </a:pPr>
            <a:r>
              <a:rPr sz="1400" b="0">
                <a:solidFill>
                  <a:srgbClr val="F0C64A"/>
                </a:solidFill>
                <a:latin typeface="Yu Gothic UI"/>
                <a:ea typeface="Yu Gothic UI"/>
              </a:rPr>
              <a:t>　3. stat_point_reward の一部 or 全部</a:t>
            </a:r>
          </a:p>
          <a:p>
            <a:pPr algn="l">
              <a:lnSpc>
                <a:spcPct val="115000"/>
              </a:lnSpc>
              <a:spcAft>
                <a:spcPts val="400"/>
              </a:spcAft>
            </a:pPr>
            <a:r>
              <a:rPr sz="1400" b="0">
                <a:solidFill>
                  <a:srgbClr val="EDE6D8"/>
                </a:solidFill>
                <a:latin typeface="Yu Gothic UI"/>
                <a:ea typeface="Yu Gothic UI"/>
              </a:rPr>
              <a:t>・equipmentはDB保存済みのため追加コスト小</a:t>
            </a:r>
          </a:p>
          <a:p>
            <a:pPr algn="l">
              <a:lnSpc>
                <a:spcPct val="115000"/>
              </a:lnSpc>
              <a:spcAft>
                <a:spcPts val="400"/>
              </a:spcAft>
            </a:pPr>
            <a:r>
              <a:rPr sz="1400" b="1">
                <a:solidFill>
                  <a:srgbClr val="7ED38A"/>
                </a:solidFill>
                <a:latin typeface="Yu Gothic UI"/>
                <a:ea typeface="Yu Gothic UI"/>
              </a:rPr>
              <a:t>・モコ：「まさに理想」（確定）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7. 魂のメッセージ（確定＋詳細方針）</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63040"/>
            <a:ext cx="5394960" cy="22860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00200"/>
            <a:ext cx="493776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基本仕様</a:t>
            </a:r>
          </a:p>
        </p:txBody>
      </p:sp>
      <p:sp>
        <p:nvSpPr>
          <p:cNvPr id="8" name="TextBox 7"/>
          <p:cNvSpPr txBox="1"/>
          <p:nvPr/>
        </p:nvSpPr>
        <p:spPr>
          <a:xfrm>
            <a:off x="914400" y="2011680"/>
            <a:ext cx="4937760" cy="1737360"/>
          </a:xfrm>
          <a:prstGeom prst="rect">
            <a:avLst/>
          </a:prstGeom>
          <a:noFill/>
        </p:spPr>
        <p:txBody>
          <a:bodyPr wrap="square" anchor="t">
            <a:spAutoFit/>
          </a:bodyPr>
          <a:lstStyle/>
          <a:p>
            <a:pPr algn="l">
              <a:lnSpc>
                <a:spcPct val="115000"/>
              </a:lnSpc>
              <a:spcAft>
                <a:spcPts val="400"/>
              </a:spcAft>
            </a:pPr>
            <a:r>
              <a:rPr sz="1300" b="1">
                <a:solidFill>
                  <a:srgbClr val="EDE6D8"/>
                </a:solidFill>
                <a:latin typeface="Yu Gothic UI"/>
                <a:ea typeface="Yu Gothic UI"/>
              </a:rPr>
              <a:t>・死亡時、その場（死亡地点）にメッセージを残せる</a:t>
            </a:r>
          </a:p>
          <a:p>
            <a:pPr algn="l">
              <a:lnSpc>
                <a:spcPct val="115000"/>
              </a:lnSpc>
              <a:spcAft>
                <a:spcPts val="400"/>
              </a:spcAft>
            </a:pPr>
            <a:r>
              <a:rPr sz="1300" b="0">
                <a:solidFill>
                  <a:srgbClr val="EDE6D8"/>
                </a:solidFill>
                <a:latin typeface="Yu Gothic UI"/>
                <a:ea typeface="Yu Gothic UI"/>
              </a:rPr>
              <a:t>・用途：応援／「この先のXXXやべーぞ！」的な警告・攻略情報</a:t>
            </a:r>
          </a:p>
          <a:p>
            <a:pPr algn="l">
              <a:lnSpc>
                <a:spcPct val="115000"/>
              </a:lnSpc>
              <a:spcAft>
                <a:spcPts val="400"/>
              </a:spcAft>
            </a:pPr>
            <a:r>
              <a:rPr sz="1300" b="0">
                <a:solidFill>
                  <a:srgbClr val="EDE6D8"/>
                </a:solidFill>
                <a:latin typeface="Yu Gothic UI"/>
                <a:ea typeface="Yu Gothic UI"/>
              </a:rPr>
              <a:t>・画面イメージはデバッグ環境で作成済み（07-12）</a:t>
            </a:r>
          </a:p>
        </p:txBody>
      </p:sp>
      <p:sp>
        <p:nvSpPr>
          <p:cNvPr id="9" name="Rounded Rectangle 8"/>
          <p:cNvSpPr/>
          <p:nvPr/>
        </p:nvSpPr>
        <p:spPr>
          <a:xfrm>
            <a:off x="640080" y="3977639"/>
            <a:ext cx="5394960" cy="22860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14800"/>
            <a:ext cx="493776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増殖・容量対策（方針決定）</a:t>
            </a:r>
          </a:p>
        </p:txBody>
      </p:sp>
      <p:sp>
        <p:nvSpPr>
          <p:cNvPr id="11" name="TextBox 10"/>
          <p:cNvSpPr txBox="1"/>
          <p:nvPr/>
        </p:nvSpPr>
        <p:spPr>
          <a:xfrm>
            <a:off x="914400" y="4526280"/>
            <a:ext cx="4937760" cy="1691640"/>
          </a:xfrm>
          <a:prstGeom prst="rect">
            <a:avLst/>
          </a:prstGeom>
          <a:noFill/>
        </p:spPr>
        <p:txBody>
          <a:bodyPr wrap="square" anchor="t">
            <a:spAutoFit/>
          </a:bodyPr>
          <a:lstStyle/>
          <a:p>
            <a:pPr algn="l">
              <a:lnSpc>
                <a:spcPct val="115000"/>
              </a:lnSpc>
              <a:spcAft>
                <a:spcPts val="400"/>
              </a:spcAft>
            </a:pPr>
            <a:r>
              <a:rPr sz="1300" b="0">
                <a:solidFill>
                  <a:srgbClr val="EDE6D8"/>
                </a:solidFill>
                <a:latin typeface="Yu Gothic UI"/>
                <a:ea typeface="Yu Gothic UI"/>
              </a:rPr>
              <a:t>・文字数とエフェクト整理後、新規50体ほど保存できる規模に調整</a:t>
            </a:r>
          </a:p>
          <a:p>
            <a:pPr algn="l">
              <a:lnSpc>
                <a:spcPct val="115000"/>
              </a:lnSpc>
              <a:spcAft>
                <a:spcPts val="400"/>
              </a:spcAft>
            </a:pPr>
            <a:r>
              <a:rPr sz="1300" b="1">
                <a:solidFill>
                  <a:srgbClr val="EDE6D8"/>
                </a:solidFill>
                <a:latin typeface="Yu Gothic UI"/>
                <a:ea typeface="Yu Gothic UI"/>
              </a:rPr>
              <a:t>・削除は時限式（48h or 72h）</a:t>
            </a:r>
            <a:r>
              <a:rPr sz="1300" b="0">
                <a:solidFill>
                  <a:srgbClr val="EDE6D8"/>
                </a:solidFill>
                <a:latin typeface="Yu Gothic UI"/>
                <a:ea typeface="Yu Gothic UI"/>
              </a:rPr>
              <a:t>が基本方針</a:t>
            </a:r>
          </a:p>
          <a:p>
            <a:pPr algn="l">
              <a:lnSpc>
                <a:spcPct val="115000"/>
              </a:lnSpc>
              <a:spcAft>
                <a:spcPts val="400"/>
              </a:spcAft>
            </a:pPr>
            <a:r>
              <a:rPr sz="1300" b="0">
                <a:solidFill>
                  <a:srgbClr val="EDE6D8"/>
                </a:solidFill>
                <a:latin typeface="Yu Gothic UI"/>
                <a:ea typeface="Yu Gothic UI"/>
              </a:rPr>
              <a:t>・「触れた回数で削除」は現接続者数では残り続けるため不採用</a:t>
            </a:r>
          </a:p>
        </p:txBody>
      </p:sp>
      <p:sp>
        <p:nvSpPr>
          <p:cNvPr id="12" name="Rounded Rectangle 11"/>
          <p:cNvSpPr/>
          <p:nvPr/>
        </p:nvSpPr>
        <p:spPr>
          <a:xfrm>
            <a:off x="6355080" y="1463040"/>
            <a:ext cx="5394960" cy="4800600"/>
          </a:xfrm>
          <a:prstGeom prst="roundRect">
            <a:avLst>
              <a:gd name="adj" fmla="val 6000"/>
            </a:avLst>
          </a:prstGeom>
          <a:solidFill>
            <a:srgbClr val="1C1533"/>
          </a:solidFill>
          <a:ln w="15240">
            <a:solidFill>
              <a:srgbClr val="9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00200"/>
            <a:ext cx="493776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発展アイデア（案として保持・要設計）</a:t>
            </a:r>
          </a:p>
        </p:txBody>
      </p:sp>
      <p:sp>
        <p:nvSpPr>
          <p:cNvPr id="14" name="TextBox 13"/>
          <p:cNvSpPr txBox="1"/>
          <p:nvPr/>
        </p:nvSpPr>
        <p:spPr>
          <a:xfrm>
            <a:off x="6629400" y="2057400"/>
            <a:ext cx="4892040" cy="4114800"/>
          </a:xfrm>
          <a:prstGeom prst="rect">
            <a:avLst/>
          </a:prstGeom>
          <a:noFill/>
        </p:spPr>
        <p:txBody>
          <a:bodyPr wrap="square" anchor="t">
            <a:spAutoFit/>
          </a:bodyPr>
          <a:lstStyle/>
          <a:p>
            <a:pPr algn="l">
              <a:lnSpc>
                <a:spcPct val="115000"/>
              </a:lnSpc>
              <a:spcAft>
                <a:spcPts val="400"/>
              </a:spcAft>
            </a:pPr>
            <a:r>
              <a:rPr sz="1300" b="1">
                <a:solidFill>
                  <a:srgbClr val="F0C64A"/>
                </a:solidFill>
                <a:latin typeface="Yu Gothic UI"/>
                <a:ea typeface="Yu Gothic UI"/>
              </a:rPr>
              <a:t>魂のログ（記録書）：</a:t>
            </a:r>
            <a:r>
              <a:rPr sz="1300" b="0">
                <a:solidFill>
                  <a:srgbClr val="EDE6D8"/>
                </a:solidFill>
                <a:latin typeface="Yu Gothic UI"/>
                <a:ea typeface="Yu Gothic UI"/>
              </a:rPr>
              <a:t>触れられたメッセージが全員共有の書物に記録され、いつでも閲覧できる</a:t>
            </a:r>
          </a:p>
          <a:p>
            <a:pPr algn="l">
              <a:lnSpc>
                <a:spcPct val="115000"/>
              </a:lnSpc>
              <a:spcAft>
                <a:spcPts val="400"/>
              </a:spcAft>
            </a:pPr>
            <a:r>
              <a:rPr sz="1200" b="0">
                <a:solidFill>
                  <a:srgbClr val="C8333C"/>
                </a:solidFill>
                <a:latin typeface="Yu Gothic UI"/>
                <a:ea typeface="Yu Gothic UI"/>
              </a:rPr>
              <a:t>　⚠ 「見つける意義」「シェアするメリット」の設計必須</a:t>
            </a:r>
          </a:p>
          <a:p>
            <a:pPr algn="l">
              <a:lnSpc>
                <a:spcPct val="115000"/>
              </a:lnSpc>
              <a:spcAft>
                <a:spcPts val="400"/>
              </a:spcAft>
            </a:pPr>
            <a:r>
              <a:rPr sz="1300" b="1">
                <a:solidFill>
                  <a:srgbClr val="F0C64A"/>
                </a:solidFill>
                <a:latin typeface="Yu Gothic UI"/>
                <a:ea typeface="Yu Gothic UI"/>
              </a:rPr>
              <a:t>ゲーム外での閲覧：</a:t>
            </a:r>
            <a:r>
              <a:rPr sz="1300" b="0">
                <a:solidFill>
                  <a:srgbClr val="EDE6D8"/>
                </a:solidFill>
                <a:latin typeface="Yu Gothic UI"/>
                <a:ea typeface="Yu Gothic UI"/>
              </a:rPr>
              <a:t>セットアップ画面から死亡時ログを振り返る「思い出」機能（モコ案）</a:t>
            </a:r>
          </a:p>
          <a:p>
            <a:pPr algn="l">
              <a:lnSpc>
                <a:spcPct val="115000"/>
              </a:lnSpc>
              <a:spcAft>
                <a:spcPts val="400"/>
              </a:spcAft>
            </a:pPr>
            <a:r>
              <a:rPr sz="1300" b="1">
                <a:solidFill>
                  <a:srgbClr val="F0C64A"/>
                </a:solidFill>
                <a:latin typeface="Yu Gothic UI"/>
                <a:ea typeface="Yu Gothic UI"/>
              </a:rPr>
              <a:t>クリア後エンドロール：</a:t>
            </a:r>
            <a:r>
              <a:rPr sz="1300" b="0">
                <a:solidFill>
                  <a:srgbClr val="EDE6D8"/>
                </a:solidFill>
                <a:latin typeface="Yu Gothic UI"/>
                <a:ea typeface="Yu Gothic UI"/>
              </a:rPr>
              <a:t>死亡ログとメッセージがスタッフロールのように流れる。実装容易（まっち確認済み）。「エンドロールの達成感」と直結する有力候補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8. 拠点成長システム（箱庭）— 追加要素として評価済み</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365760"/>
          </a:xfrm>
          <a:prstGeom prst="rect">
            <a:avLst/>
          </a:prstGeom>
          <a:noFill/>
        </p:spPr>
        <p:txBody>
          <a:bodyPr wrap="square" anchor="t">
            <a:spAutoFit/>
          </a:bodyPr>
          <a:lstStyle/>
          <a:p>
            <a:pPr algn="l">
              <a:lnSpc>
                <a:spcPct val="115000"/>
              </a:lnSpc>
              <a:spcAft>
                <a:spcPts val="400"/>
              </a:spcAft>
            </a:pPr>
            <a:r>
              <a:rPr sz="1300" b="0">
                <a:solidFill>
                  <a:srgbClr val="B9AFD0"/>
                </a:solidFill>
                <a:latin typeface="Yu Gothic UI"/>
                <a:ea typeface="Yu Gothic UI"/>
              </a:rPr>
              <a:t>スタート地点の「ふもとの村」を共有スペースとして協力育成（モコ提案 07-12）</a:t>
            </a:r>
          </a:p>
        </p:txBody>
      </p:sp>
      <p:sp>
        <p:nvSpPr>
          <p:cNvPr id="7" name="TextBox 6"/>
          <p:cNvSpPr txBox="1"/>
          <p:nvPr/>
        </p:nvSpPr>
        <p:spPr>
          <a:xfrm>
            <a:off x="685800" y="1463040"/>
            <a:ext cx="539496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施設候補（仮）</a:t>
            </a:r>
          </a:p>
        </p:txBody>
      </p:sp>
      <p:sp>
        <p:nvSpPr>
          <p:cNvPr id="8" name="TextBox 7"/>
          <p:cNvSpPr txBox="1"/>
          <p:nvPr/>
        </p:nvSpPr>
        <p:spPr>
          <a:xfrm>
            <a:off x="868680" y="1874519"/>
            <a:ext cx="5120640" cy="914400"/>
          </a:xfrm>
          <a:prstGeom prst="rect">
            <a:avLst/>
          </a:prstGeom>
          <a:noFill/>
        </p:spPr>
        <p:txBody>
          <a:bodyPr wrap="square" anchor="t">
            <a:spAutoFit/>
          </a:bodyPr>
          <a:lstStyle/>
          <a:p>
            <a:pPr algn="l">
              <a:lnSpc>
                <a:spcPct val="115000"/>
              </a:lnSpc>
              <a:spcAft>
                <a:spcPts val="400"/>
              </a:spcAft>
            </a:pPr>
            <a:r>
              <a:rPr sz="1300" b="0">
                <a:solidFill>
                  <a:srgbClr val="EDE6D8"/>
                </a:solidFill>
                <a:latin typeface="Yu Gothic UI"/>
                <a:ea typeface="Yu Gothic UI"/>
              </a:rPr>
              <a:t>強化施設：武器屋・防具屋・鍛冶屋・雑貨屋・精錬など</a:t>
            </a:r>
          </a:p>
          <a:p>
            <a:pPr algn="l">
              <a:lnSpc>
                <a:spcPct val="115000"/>
              </a:lnSpc>
              <a:spcAft>
                <a:spcPts val="400"/>
              </a:spcAft>
            </a:pPr>
            <a:r>
              <a:rPr sz="1300" b="0">
                <a:solidFill>
                  <a:srgbClr val="EDE6D8"/>
                </a:solidFill>
                <a:latin typeface="Yu Gothic UI"/>
                <a:ea typeface="Yu Gothic UI"/>
              </a:rPr>
              <a:t>資源施設：畑・鉱山・森など</a:t>
            </a:r>
          </a:p>
        </p:txBody>
      </p:sp>
      <p:sp>
        <p:nvSpPr>
          <p:cNvPr id="9" name="TextBox 8"/>
          <p:cNvSpPr txBox="1"/>
          <p:nvPr/>
        </p:nvSpPr>
        <p:spPr>
          <a:xfrm>
            <a:off x="685800" y="2834640"/>
            <a:ext cx="539496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解放条件の評価（仮）</a:t>
            </a:r>
          </a:p>
        </p:txBody>
      </p:sp>
      <p:sp>
        <p:nvSpPr>
          <p:cNvPr id="10" name="TextBox 9"/>
          <p:cNvSpPr txBox="1"/>
          <p:nvPr/>
        </p:nvSpPr>
        <p:spPr>
          <a:xfrm>
            <a:off x="868680" y="3246120"/>
            <a:ext cx="5120640" cy="2011680"/>
          </a:xfrm>
          <a:prstGeom prst="rect">
            <a:avLst/>
          </a:prstGeom>
          <a:noFill/>
        </p:spPr>
        <p:txBody>
          <a:bodyPr wrap="square" anchor="t">
            <a:spAutoFit/>
          </a:bodyPr>
          <a:lstStyle/>
          <a:p>
            <a:pPr algn="l">
              <a:lnSpc>
                <a:spcPct val="115000"/>
              </a:lnSpc>
              <a:spcAft>
                <a:spcPts val="400"/>
              </a:spcAft>
            </a:pPr>
            <a:r>
              <a:rPr sz="1300" b="0">
                <a:solidFill>
                  <a:srgbClr val="F0C64A"/>
                </a:solidFill>
                <a:latin typeface="Yu Gothic UI"/>
                <a:ea typeface="Yu Gothic UI"/>
              </a:rPr>
              <a:t>◎ 進行度による解放</a:t>
            </a:r>
            <a:r>
              <a:rPr sz="1200" b="0">
                <a:solidFill>
                  <a:srgbClr val="B9AFD0"/>
                </a:solidFill>
                <a:latin typeface="Yu Gothic UI"/>
                <a:ea typeface="Yu Gothic UI"/>
              </a:rPr>
              <a:t>　— 王道</a:t>
            </a:r>
          </a:p>
          <a:p>
            <a:pPr algn="l">
              <a:lnSpc>
                <a:spcPct val="115000"/>
              </a:lnSpc>
              <a:spcAft>
                <a:spcPts val="400"/>
              </a:spcAft>
            </a:pPr>
            <a:r>
              <a:rPr sz="1300" b="1">
                <a:solidFill>
                  <a:srgbClr val="F0C64A"/>
                </a:solidFill>
                <a:latin typeface="Yu Gothic UI"/>
                <a:ea typeface="Yu Gothic UI"/>
              </a:rPr>
              <a:t>◎ ダンジョン内で発見して解放（最推奨）</a:t>
            </a:r>
          </a:p>
          <a:p>
            <a:pPr algn="l">
              <a:lnSpc>
                <a:spcPct val="115000"/>
              </a:lnSpc>
              <a:spcAft>
                <a:spcPts val="400"/>
              </a:spcAft>
            </a:pPr>
            <a:r>
              <a:rPr sz="1200" b="0">
                <a:solidFill>
                  <a:srgbClr val="B9AFD0"/>
                </a:solidFill>
                <a:latin typeface="Yu Gothic UI"/>
                <a:ea typeface="Yu Gothic UI"/>
              </a:rPr>
              <a:t>　　「捕まっている大工を助けて村へ送る」等。探索動機と直結</a:t>
            </a:r>
          </a:p>
          <a:p>
            <a:pPr algn="l">
              <a:lnSpc>
                <a:spcPct val="115000"/>
              </a:lnSpc>
              <a:spcAft>
                <a:spcPts val="400"/>
              </a:spcAft>
            </a:pPr>
            <a:r>
              <a:rPr sz="1300" b="0">
                <a:solidFill>
                  <a:srgbClr val="F0C64A"/>
                </a:solidFill>
                <a:latin typeface="Yu Gothic UI"/>
                <a:ea typeface="Yu Gothic UI"/>
              </a:rPr>
              <a:t>◎ 資源投入で解放</a:t>
            </a:r>
            <a:r>
              <a:rPr sz="1200" b="0">
                <a:solidFill>
                  <a:srgbClr val="B9AFD0"/>
                </a:solidFill>
                <a:latin typeface="Yu Gothic UI"/>
                <a:ea typeface="Yu Gothic UI"/>
              </a:rPr>
              <a:t>　— 発見型とセットで機能</a:t>
            </a:r>
          </a:p>
          <a:p>
            <a:pPr algn="l">
              <a:lnSpc>
                <a:spcPct val="115000"/>
              </a:lnSpc>
              <a:spcAft>
                <a:spcPts val="400"/>
              </a:spcAft>
            </a:pPr>
            <a:r>
              <a:rPr sz="1300" b="0">
                <a:solidFill>
                  <a:srgbClr val="C8333C"/>
                </a:solidFill>
                <a:latin typeface="Yu Gothic UI"/>
                <a:ea typeface="Yu Gothic UI"/>
              </a:rPr>
              <a:t>✕ プレイ回数による解放</a:t>
            </a:r>
            <a:r>
              <a:rPr sz="1200" b="0">
                <a:solidFill>
                  <a:srgbClr val="B9AFD0"/>
                </a:solidFill>
                <a:latin typeface="Yu Gothic UI"/>
                <a:ea typeface="Yu Gothic UI"/>
              </a:rPr>
              <a:t>　— 自殺周回で破綻</a:t>
            </a:r>
          </a:p>
        </p:txBody>
      </p:sp>
      <p:sp>
        <p:nvSpPr>
          <p:cNvPr id="11" name="TextBox 10"/>
          <p:cNvSpPr txBox="1"/>
          <p:nvPr/>
        </p:nvSpPr>
        <p:spPr>
          <a:xfrm>
            <a:off x="6400800" y="1463040"/>
            <a:ext cx="5212080" cy="365760"/>
          </a:xfrm>
          <a:prstGeom prst="rect">
            <a:avLst/>
          </a:prstGeom>
          <a:noFill/>
        </p:spPr>
        <p:txBody>
          <a:bodyPr wrap="square" anchor="t">
            <a:spAutoFit/>
          </a:bodyPr>
          <a:lstStyle/>
          <a:p>
            <a:pPr algn="l">
              <a:lnSpc>
                <a:spcPct val="115000"/>
              </a:lnSpc>
              <a:spcAft>
                <a:spcPts val="400"/>
              </a:spcAft>
            </a:pPr>
            <a:r>
              <a:rPr sz="1500" b="1">
                <a:solidFill>
                  <a:srgbClr val="9B5CF6"/>
                </a:solidFill>
                <a:latin typeface="Yu Gothic UI"/>
                <a:ea typeface="Yu Gothic UI"/>
              </a:rPr>
              <a:t>■ 成長システムの評価（仮）</a:t>
            </a:r>
          </a:p>
        </p:txBody>
      </p:sp>
      <p:sp>
        <p:nvSpPr>
          <p:cNvPr id="12" name="TextBox 11"/>
          <p:cNvSpPr txBox="1"/>
          <p:nvPr/>
        </p:nvSpPr>
        <p:spPr>
          <a:xfrm>
            <a:off x="6583680" y="1874519"/>
            <a:ext cx="5029200" cy="2103120"/>
          </a:xfrm>
          <a:prstGeom prst="rect">
            <a:avLst/>
          </a:prstGeom>
          <a:noFill/>
        </p:spPr>
        <p:txBody>
          <a:bodyPr wrap="square" anchor="t">
            <a:spAutoFit/>
          </a:bodyPr>
          <a:lstStyle/>
          <a:p>
            <a:pPr algn="l">
              <a:lnSpc>
                <a:spcPct val="115000"/>
              </a:lnSpc>
              <a:spcAft>
                <a:spcPts val="400"/>
              </a:spcAft>
            </a:pPr>
            <a:r>
              <a:rPr sz="1300" b="1">
                <a:solidFill>
                  <a:srgbClr val="F0C64A"/>
                </a:solidFill>
                <a:latin typeface="Yu Gothic UI"/>
                <a:ea typeface="Yu Gothic UI"/>
              </a:rPr>
              <a:t>◎ 死亡時に進行度ポイント付与 → 投入で成長（最推奨）</a:t>
            </a:r>
          </a:p>
          <a:p>
            <a:pPr algn="l">
              <a:lnSpc>
                <a:spcPct val="115000"/>
              </a:lnSpc>
              <a:spcAft>
                <a:spcPts val="400"/>
              </a:spcAft>
            </a:pPr>
            <a:r>
              <a:rPr sz="1200" b="0">
                <a:solidFill>
                  <a:srgbClr val="B9AFD0"/>
                </a:solidFill>
                <a:latin typeface="Yu Gothic UI"/>
                <a:ea typeface="Yu Gothic UI"/>
              </a:rPr>
              <a:t>　　深いほど貢献大＝「死亡＝貢献」と完全一致。③ギルドツリーの貢献値と統合できる可能性</a:t>
            </a:r>
          </a:p>
          <a:p>
            <a:pPr algn="l">
              <a:lnSpc>
                <a:spcPct val="115000"/>
              </a:lnSpc>
              <a:spcAft>
                <a:spcPts val="400"/>
              </a:spcAft>
            </a:pPr>
            <a:r>
              <a:rPr sz="1300" b="0">
                <a:solidFill>
                  <a:srgbClr val="EDE6D8"/>
                </a:solidFill>
                <a:latin typeface="Yu Gothic UI"/>
                <a:ea typeface="Yu Gothic UI"/>
              </a:rPr>
              <a:t>○ 資源を一定投入で成長</a:t>
            </a:r>
            <a:r>
              <a:rPr sz="1200" b="0">
                <a:solidFill>
                  <a:srgbClr val="B9AFD0"/>
                </a:solidFill>
                <a:latin typeface="Yu Gothic UI"/>
                <a:ea typeface="Yu Gothic UI"/>
              </a:rPr>
              <a:t>　— 資源システムの新規実装が前提</a:t>
            </a:r>
          </a:p>
          <a:p>
            <a:pPr algn="l">
              <a:lnSpc>
                <a:spcPct val="115000"/>
              </a:lnSpc>
              <a:spcAft>
                <a:spcPts val="400"/>
              </a:spcAft>
            </a:pPr>
            <a:r>
              <a:rPr sz="1300" b="0">
                <a:solidFill>
                  <a:srgbClr val="EDE6D8"/>
                </a:solidFill>
                <a:latin typeface="Yu Gothic UI"/>
                <a:ea typeface="Yu Gothic UI"/>
              </a:rPr>
              <a:t>△ 時間による成長</a:t>
            </a:r>
            <a:r>
              <a:rPr sz="1200" b="0">
                <a:solidFill>
                  <a:srgbClr val="B9AFD0"/>
                </a:solidFill>
                <a:latin typeface="Yu Gothic UI"/>
                <a:ea typeface="Yu Gothic UI"/>
              </a:rPr>
              <a:t>　— オフライン中の緩回復程度なら可</a:t>
            </a:r>
          </a:p>
          <a:p>
            <a:pPr algn="l">
              <a:lnSpc>
                <a:spcPct val="115000"/>
              </a:lnSpc>
              <a:spcAft>
                <a:spcPts val="400"/>
              </a:spcAft>
            </a:pPr>
            <a:r>
              <a:rPr sz="1300" b="0">
                <a:solidFill>
                  <a:srgbClr val="C8333C"/>
                </a:solidFill>
                <a:latin typeface="Yu Gothic UI"/>
                <a:ea typeface="Yu Gothic UI"/>
              </a:rPr>
              <a:t>✕ プレイ回数</a:t>
            </a:r>
            <a:r>
              <a:rPr sz="1200" b="0">
                <a:solidFill>
                  <a:srgbClr val="B9AFD0"/>
                </a:solidFill>
                <a:latin typeface="Yu Gothic UI"/>
                <a:ea typeface="Yu Gothic UI"/>
              </a:rPr>
              <a:t>　— 同上</a:t>
            </a:r>
          </a:p>
        </p:txBody>
      </p:sp>
      <p:sp>
        <p:nvSpPr>
          <p:cNvPr id="13" name="Rounded Rectangle 12"/>
          <p:cNvSpPr/>
          <p:nvPr/>
        </p:nvSpPr>
        <p:spPr>
          <a:xfrm>
            <a:off x="6400800" y="4343400"/>
            <a:ext cx="5212080" cy="1874519"/>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0" y="4480560"/>
            <a:ext cx="4846320" cy="365760"/>
          </a:xfrm>
          <a:prstGeom prst="rect">
            <a:avLst/>
          </a:prstGeom>
          <a:noFill/>
        </p:spPr>
        <p:txBody>
          <a:bodyPr wrap="square" anchor="t">
            <a:spAutoFit/>
          </a:bodyPr>
          <a:lstStyle/>
          <a:p>
            <a:pPr algn="l">
              <a:lnSpc>
                <a:spcPct val="115000"/>
              </a:lnSpc>
              <a:spcAft>
                <a:spcPts val="400"/>
              </a:spcAft>
            </a:pPr>
            <a:r>
              <a:rPr sz="1400" b="1">
                <a:solidFill>
                  <a:srgbClr val="F0C64A"/>
                </a:solidFill>
                <a:latin typeface="Yu Gothic UI"/>
                <a:ea typeface="Yu Gothic UI"/>
              </a:rPr>
              <a:t>■ 導入方針（まっち所感）</a:t>
            </a:r>
          </a:p>
        </p:txBody>
      </p:sp>
      <p:sp>
        <p:nvSpPr>
          <p:cNvPr id="15" name="TextBox 14"/>
          <p:cNvSpPr txBox="1"/>
          <p:nvPr/>
        </p:nvSpPr>
        <p:spPr>
          <a:xfrm>
            <a:off x="6629400" y="4846320"/>
            <a:ext cx="4846320" cy="1371600"/>
          </a:xfrm>
          <a:prstGeom prst="rect">
            <a:avLst/>
          </a:prstGeom>
          <a:noFill/>
        </p:spPr>
        <p:txBody>
          <a:bodyPr wrap="square" anchor="t">
            <a:spAutoFit/>
          </a:bodyPr>
          <a:lstStyle/>
          <a:p>
            <a:pPr algn="l">
              <a:lnSpc>
                <a:spcPct val="115000"/>
              </a:lnSpc>
              <a:spcAft>
                <a:spcPts val="400"/>
              </a:spcAft>
            </a:pPr>
            <a:r>
              <a:rPr sz="1250" b="1">
                <a:solidFill>
                  <a:srgbClr val="EDE6D8"/>
                </a:solidFill>
                <a:latin typeface="Yu Gothic UI"/>
                <a:ea typeface="Yu Gothic UI"/>
              </a:rPr>
              <a:t>フェーズ1：「捕まっている大工を助ける」型の個人の町拡張をまず導入して様子見</a:t>
            </a:r>
          </a:p>
          <a:p>
            <a:pPr algn="l">
              <a:lnSpc>
                <a:spcPct val="115000"/>
              </a:lnSpc>
              <a:spcAft>
                <a:spcPts val="400"/>
              </a:spcAft>
            </a:pPr>
            <a:r>
              <a:rPr sz="1250" b="0">
                <a:solidFill>
                  <a:srgbClr val="EDE6D8"/>
                </a:solidFill>
                <a:latin typeface="Yu Gothic UI"/>
                <a:ea typeface="Yu Gothic UI"/>
              </a:rPr>
              <a:t>協力・共闘の深化と現状の単独プレイ傾向のギャップを埋めるプロモーションも併せて必要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9. 設計上の要注意ポイント（実装前に解決）</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63040"/>
            <a:ext cx="10881360" cy="1078992"/>
          </a:xfrm>
          <a:prstGeom prst="roundRect">
            <a:avLst>
              <a:gd name="adj" fmla="val 6000"/>
            </a:avLst>
          </a:prstGeom>
          <a:solidFill>
            <a:srgbClr val="1C1533"/>
          </a:solidFill>
          <a:ln w="25400">
            <a:solidFill>
              <a:srgbClr val="C833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2834640" cy="914400"/>
          </a:xfrm>
          <a:prstGeom prst="rect">
            <a:avLst/>
          </a:prstGeom>
          <a:noFill/>
        </p:spPr>
        <p:txBody>
          <a:bodyPr wrap="square" anchor="ctr">
            <a:spAutoFit/>
          </a:bodyPr>
          <a:lstStyle/>
          <a:p>
            <a:pPr algn="l">
              <a:lnSpc>
                <a:spcPct val="115000"/>
              </a:lnSpc>
              <a:spcAft>
                <a:spcPts val="400"/>
              </a:spcAft>
            </a:pPr>
            <a:r>
              <a:rPr sz="1500" b="1">
                <a:solidFill>
                  <a:srgbClr val="C8333C"/>
                </a:solidFill>
                <a:latin typeface="Yu Gothic UI"/>
                <a:ea typeface="Yu Gothic UI"/>
              </a:rPr>
              <a:t>ランキングの公平性（最重要）</a:t>
            </a:r>
          </a:p>
        </p:txBody>
      </p:sp>
      <p:sp>
        <p:nvSpPr>
          <p:cNvPr id="8" name="TextBox 7"/>
          <p:cNvSpPr txBox="1"/>
          <p:nvPr/>
        </p:nvSpPr>
        <p:spPr>
          <a:xfrm>
            <a:off x="3794760" y="1517904"/>
            <a:ext cx="7589520" cy="969264"/>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継承・拠点の恩恵でスタート時の強さが変わると歴代記録と比較不能に。対策：a) 恩恵を利便性に限定 b) 村Lv併記/シーズン制。新章は別コンテンツなので新章専用の進行度表示にすれば本編ランキングとの衝突は回避可能</a:t>
            </a:r>
          </a:p>
        </p:txBody>
      </p:sp>
      <p:sp>
        <p:nvSpPr>
          <p:cNvPr id="9" name="Rounded Rectangle 8"/>
          <p:cNvSpPr/>
          <p:nvPr/>
        </p:nvSpPr>
        <p:spPr>
          <a:xfrm>
            <a:off x="640080" y="2697480"/>
            <a:ext cx="10881360" cy="1078992"/>
          </a:xfrm>
          <a:prstGeom prst="roundRect">
            <a:avLst>
              <a:gd name="adj" fmla="val 6000"/>
            </a:avLst>
          </a:prstGeom>
          <a:solidFill>
            <a:srgbClr val="1C1533"/>
          </a:solidFill>
          <a:ln w="1524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770632"/>
            <a:ext cx="2834640" cy="91440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クライアント信頼問題</a:t>
            </a:r>
          </a:p>
        </p:txBody>
      </p:sp>
      <p:sp>
        <p:nvSpPr>
          <p:cNvPr id="11" name="TextBox 10"/>
          <p:cNvSpPr txBox="1"/>
          <p:nvPr/>
        </p:nvSpPr>
        <p:spPr>
          <a:xfrm>
            <a:off x="3794760" y="2752344"/>
            <a:ext cx="7589520" cy="969264"/>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ゲームロジックは全てクライアント側でチート耐性なし。共有進捗への貢献はサーバー側RPCで上限・レート制御が必須（ジャックポット冪等化と同型の設計で対応可能）</a:t>
            </a:r>
          </a:p>
        </p:txBody>
      </p:sp>
      <p:sp>
        <p:nvSpPr>
          <p:cNvPr id="12" name="Rounded Rectangle 11"/>
          <p:cNvSpPr/>
          <p:nvPr/>
        </p:nvSpPr>
        <p:spPr>
          <a:xfrm>
            <a:off x="640080" y="3931920"/>
            <a:ext cx="10881360" cy="1078992"/>
          </a:xfrm>
          <a:prstGeom prst="roundRect">
            <a:avLst>
              <a:gd name="adj" fmla="val 6000"/>
            </a:avLst>
          </a:prstGeom>
          <a:solidFill>
            <a:srgbClr val="1C1533"/>
          </a:solidFill>
          <a:ln w="1524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05072"/>
            <a:ext cx="2834640" cy="91440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自殺周回対策</a:t>
            </a:r>
          </a:p>
        </p:txBody>
      </p:sp>
      <p:sp>
        <p:nvSpPr>
          <p:cNvPr id="14" name="TextBox 13"/>
          <p:cNvSpPr txBox="1"/>
          <p:nvPr/>
        </p:nvSpPr>
        <p:spPr>
          <a:xfrm>
            <a:off x="3794760" y="3986784"/>
            <a:ext cx="7589520" cy="969264"/>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貢献量は「回数」ではなく「深度」を通貨にする（浅い死は貢献が小さい設計）</a:t>
            </a:r>
          </a:p>
        </p:txBody>
      </p:sp>
      <p:sp>
        <p:nvSpPr>
          <p:cNvPr id="15" name="Rounded Rectangle 14"/>
          <p:cNvSpPr/>
          <p:nvPr/>
        </p:nvSpPr>
        <p:spPr>
          <a:xfrm>
            <a:off x="640080" y="5166360"/>
            <a:ext cx="10881360" cy="1078992"/>
          </a:xfrm>
          <a:prstGeom prst="roundRect">
            <a:avLst>
              <a:gd name="adj" fmla="val 6000"/>
            </a:avLst>
          </a:prstGeom>
          <a:solidFill>
            <a:srgbClr val="1C1533"/>
          </a:solidFill>
          <a:ln w="1524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239512"/>
            <a:ext cx="2834640" cy="914400"/>
          </a:xfrm>
          <a:prstGeom prst="rect">
            <a:avLst/>
          </a:prstGeom>
          <a:noFill/>
        </p:spPr>
        <p:txBody>
          <a:bodyPr wrap="square" anchor="ctr">
            <a:spAutoFit/>
          </a:bodyPr>
          <a:lstStyle/>
          <a:p>
            <a:pPr algn="l">
              <a:lnSpc>
                <a:spcPct val="115000"/>
              </a:lnSpc>
              <a:spcAft>
                <a:spcPts val="400"/>
              </a:spcAft>
            </a:pPr>
            <a:r>
              <a:rPr sz="1500" b="1">
                <a:solidFill>
                  <a:srgbClr val="F0C64A"/>
                </a:solidFill>
                <a:latin typeface="Yu Gothic UI"/>
                <a:ea typeface="Yu Gothic UI"/>
              </a:rPr>
              <a:t>イベント競合</a:t>
            </a:r>
          </a:p>
        </p:txBody>
      </p:sp>
      <p:sp>
        <p:nvSpPr>
          <p:cNvPr id="17" name="TextBox 16"/>
          <p:cNvSpPr txBox="1"/>
          <p:nvPr/>
        </p:nvSpPr>
        <p:spPr>
          <a:xfrm>
            <a:off x="3794760" y="5221224"/>
            <a:ext cx="7589520" cy="969264"/>
          </a:xfrm>
          <a:prstGeom prst="rect">
            <a:avLst/>
          </a:prstGeom>
          <a:noFill/>
        </p:spPr>
        <p:txBody>
          <a:bodyPr wrap="square" anchor="ctr">
            <a:spAutoFit/>
          </a:bodyPr>
          <a:lstStyle/>
          <a:p>
            <a:pPr algn="l">
              <a:lnSpc>
                <a:spcPct val="115000"/>
              </a:lnSpc>
              <a:spcAft>
                <a:spcPts val="400"/>
              </a:spcAft>
            </a:pPr>
            <a:r>
              <a:rPr sz="1200" b="0">
                <a:solidFill>
                  <a:srgbClr val="EDE6D8"/>
                </a:solidFill>
                <a:latin typeface="Yu Gothic UI"/>
                <a:ea typeface="Yu Gothic UI"/>
              </a:rPr>
              <a:t>すかるぽりん等の既存全鯖イベントとの同時発生時の挙動整理（過去に湧き時間20分固定の制約で移動ロジックを断念した経緯あり）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10. 既存システムとの関係 — KIZUNAの土台</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05840"/>
            <a:ext cx="11064240" cy="365760"/>
          </a:xfrm>
          <a:prstGeom prst="rect">
            <a:avLst/>
          </a:prstGeom>
          <a:noFill/>
        </p:spPr>
        <p:txBody>
          <a:bodyPr wrap="square" anchor="t">
            <a:spAutoFit/>
          </a:bodyPr>
          <a:lstStyle/>
          <a:p>
            <a:pPr algn="l">
              <a:lnSpc>
                <a:spcPct val="115000"/>
              </a:lnSpc>
              <a:spcAft>
                <a:spcPts val="400"/>
              </a:spcAft>
            </a:pPr>
            <a:r>
              <a:rPr sz="1300" b="0">
                <a:solidFill>
                  <a:srgbClr val="B9AFD0"/>
                </a:solidFill>
                <a:latin typeface="Yu Gothic UI"/>
                <a:ea typeface="Yu Gothic UI"/>
              </a:rPr>
              <a:t>新規開発を最小化できる根拠</a:t>
            </a:r>
          </a:p>
        </p:txBody>
      </p:sp>
      <p:sp>
        <p:nvSpPr>
          <p:cNvPr id="7" name="Rounded Rectangle 6"/>
          <p:cNvSpPr/>
          <p:nvPr/>
        </p:nvSpPr>
        <p:spPr>
          <a:xfrm>
            <a:off x="640080" y="1508760"/>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45336"/>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ドッペルゲンガー</a:t>
            </a:r>
          </a:p>
        </p:txBody>
      </p:sp>
      <p:sp>
        <p:nvSpPr>
          <p:cNvPr id="9" name="TextBox 8"/>
          <p:cNvSpPr txBox="1"/>
          <p:nvPr/>
        </p:nvSpPr>
        <p:spPr>
          <a:xfrm>
            <a:off x="4480560" y="1545336"/>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④形見セレクトの土台。死亡キャラ登録・出現ロジックをほぼ流用</a:t>
            </a:r>
          </a:p>
        </p:txBody>
      </p:sp>
      <p:sp>
        <p:nvSpPr>
          <p:cNvPr id="10" name="Rounded Rectangle 9"/>
          <p:cNvSpPr/>
          <p:nvPr/>
        </p:nvSpPr>
        <p:spPr>
          <a:xfrm>
            <a:off x="640080" y="2331720"/>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368296"/>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ワールド通知・いいね</a:t>
            </a:r>
          </a:p>
        </p:txBody>
      </p:sp>
      <p:sp>
        <p:nvSpPr>
          <p:cNvPr id="12" name="TextBox 11"/>
          <p:cNvSpPr txBox="1"/>
          <p:nvPr/>
        </p:nvSpPr>
        <p:spPr>
          <a:xfrm>
            <a:off x="4480560" y="2368296"/>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継承の発生・お礼の伝達に流用（「○○さんの遺産で△△さんが16F突破！」→いいね）</a:t>
            </a:r>
          </a:p>
        </p:txBody>
      </p:sp>
      <p:sp>
        <p:nvSpPr>
          <p:cNvPr id="13" name="Rounded Rectangle 12"/>
          <p:cNvSpPr/>
          <p:nvPr/>
        </p:nvSpPr>
        <p:spPr>
          <a:xfrm>
            <a:off x="640080" y="3154680"/>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191256"/>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ジャックポット（冪等化済みRPC）</a:t>
            </a:r>
          </a:p>
        </p:txBody>
      </p:sp>
      <p:sp>
        <p:nvSpPr>
          <p:cNvPr id="15" name="TextBox 14"/>
          <p:cNvSpPr txBox="1"/>
          <p:nvPr/>
        </p:nvSpPr>
        <p:spPr>
          <a:xfrm>
            <a:off x="4480560" y="3191256"/>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共有ゲージ・貢献受付のサーバー側実装の雛形</a:t>
            </a:r>
          </a:p>
        </p:txBody>
      </p:sp>
      <p:sp>
        <p:nvSpPr>
          <p:cNvPr id="16" name="Rounded Rectangle 15"/>
          <p:cNvSpPr/>
          <p:nvPr/>
        </p:nvSpPr>
        <p:spPr>
          <a:xfrm>
            <a:off x="640080" y="3977639"/>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014215"/>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クラウドセーブ</a:t>
            </a:r>
          </a:p>
        </p:txBody>
      </p:sp>
      <p:sp>
        <p:nvSpPr>
          <p:cNvPr id="18" name="TextBox 17"/>
          <p:cNvSpPr txBox="1"/>
          <p:nvPr/>
        </p:nvSpPr>
        <p:spPr>
          <a:xfrm>
            <a:off x="4480560" y="4014215"/>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プレイヤー識別の既存基盤（名前＋パスワード）</a:t>
            </a:r>
          </a:p>
        </p:txBody>
      </p:sp>
      <p:sp>
        <p:nvSpPr>
          <p:cNvPr id="19" name="Rounded Rectangle 18"/>
          <p:cNvSpPr/>
          <p:nvPr/>
        </p:nvSpPr>
        <p:spPr>
          <a:xfrm>
            <a:off x="640080" y="4800600"/>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837176"/>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掲示板（ひろば）</a:t>
            </a:r>
          </a:p>
        </p:txBody>
      </p:sp>
      <p:sp>
        <p:nvSpPr>
          <p:cNvPr id="21" name="TextBox 20"/>
          <p:cNvSpPr txBox="1"/>
          <p:nvPr/>
        </p:nvSpPr>
        <p:spPr>
          <a:xfrm>
            <a:off x="4480560" y="4837176"/>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コミュニティ攻略の場。新章への入口候補でもある</a:t>
            </a:r>
          </a:p>
        </p:txBody>
      </p:sp>
      <p:sp>
        <p:nvSpPr>
          <p:cNvPr id="22" name="Rounded Rectangle 21"/>
          <p:cNvSpPr/>
          <p:nvPr/>
        </p:nvSpPr>
        <p:spPr>
          <a:xfrm>
            <a:off x="640080" y="5623560"/>
            <a:ext cx="3566160" cy="685800"/>
          </a:xfrm>
          <a:prstGeom prst="roundRect">
            <a:avLst>
              <a:gd name="adj" fmla="val 6000"/>
            </a:avLst>
          </a:prstGeom>
          <a:solidFill>
            <a:srgbClr val="1C1533"/>
          </a:solidFill>
          <a:ln w="1524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2" y="5660136"/>
            <a:ext cx="3291840" cy="621792"/>
          </a:xfrm>
          <a:prstGeom prst="rect">
            <a:avLst/>
          </a:prstGeom>
          <a:noFill/>
        </p:spPr>
        <p:txBody>
          <a:bodyPr wrap="square" anchor="ctr">
            <a:spAutoFit/>
          </a:bodyPr>
          <a:lstStyle/>
          <a:p>
            <a:pPr algn="l">
              <a:lnSpc>
                <a:spcPct val="115000"/>
              </a:lnSpc>
              <a:spcAft>
                <a:spcPts val="400"/>
              </a:spcAft>
            </a:pPr>
            <a:r>
              <a:rPr sz="1350" b="1">
                <a:solidFill>
                  <a:srgbClr val="F0C64A"/>
                </a:solidFill>
                <a:latin typeface="Yu Gothic UI"/>
                <a:ea typeface="Yu Gothic UI"/>
              </a:rPr>
              <a:t>現行マップ・ダンジョン生成</a:t>
            </a:r>
          </a:p>
        </p:txBody>
      </p:sp>
      <p:sp>
        <p:nvSpPr>
          <p:cNvPr id="24" name="TextBox 23"/>
          <p:cNvSpPr txBox="1"/>
          <p:nvPr/>
        </p:nvSpPr>
        <p:spPr>
          <a:xfrm>
            <a:off x="4480560" y="5660136"/>
            <a:ext cx="7132320" cy="640080"/>
          </a:xfrm>
          <a:prstGeom prst="rect">
            <a:avLst/>
          </a:prstGeom>
          <a:noFill/>
        </p:spPr>
        <p:txBody>
          <a:bodyPr wrap="square" anchor="ctr">
            <a:spAutoFit/>
          </a:bodyPr>
          <a:lstStyle/>
          <a:p>
            <a:pPr algn="l">
              <a:lnSpc>
                <a:spcPct val="115000"/>
              </a:lnSpc>
              <a:spcAft>
                <a:spcPts val="400"/>
              </a:spcAft>
            </a:pPr>
            <a:r>
              <a:rPr sz="1300" b="0">
                <a:solidFill>
                  <a:srgbClr val="EDE6D8"/>
                </a:solidFill>
                <a:latin typeface="Yu Gothic UI"/>
                <a:ea typeface="Yu Gothic UI"/>
              </a:rPr>
              <a:t>新章のマップはこれをそのまま使用（新規開発なし）</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11. 進め方・体制（確定）</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10789920" cy="365760"/>
          </a:xfrm>
          <a:prstGeom prst="rect">
            <a:avLst/>
          </a:prstGeom>
          <a:noFill/>
        </p:spPr>
        <p:txBody>
          <a:bodyPr wrap="square" anchor="t">
            <a:spAutoFit/>
          </a:bodyPr>
          <a:lstStyle/>
          <a:p>
            <a:pPr algn="l">
              <a:lnSpc>
                <a:spcPct val="115000"/>
              </a:lnSpc>
              <a:spcAft>
                <a:spcPts val="400"/>
              </a:spcAft>
            </a:pPr>
            <a:r>
              <a:rPr sz="1600" b="1">
                <a:solidFill>
                  <a:srgbClr val="9B5CF6"/>
                </a:solidFill>
                <a:latin typeface="Yu Gothic UI"/>
                <a:ea typeface="Yu Gothic UI"/>
              </a:rPr>
              <a:t>■ 順番が大切</a:t>
            </a:r>
          </a:p>
        </p:txBody>
      </p:sp>
      <p:sp>
        <p:nvSpPr>
          <p:cNvPr id="7" name="TextBox 6"/>
          <p:cNvSpPr txBox="1"/>
          <p:nvPr/>
        </p:nvSpPr>
        <p:spPr>
          <a:xfrm>
            <a:off x="868680" y="1874519"/>
            <a:ext cx="10515600" cy="1005840"/>
          </a:xfrm>
          <a:prstGeom prst="rect">
            <a:avLst/>
          </a:prstGeom>
          <a:noFill/>
        </p:spPr>
        <p:txBody>
          <a:bodyPr wrap="square" anchor="t">
            <a:spAutoFit/>
          </a:bodyPr>
          <a:lstStyle/>
          <a:p>
            <a:pPr algn="l">
              <a:lnSpc>
                <a:spcPct val="115000"/>
              </a:lnSpc>
              <a:spcAft>
                <a:spcPts val="400"/>
              </a:spcAft>
            </a:pPr>
            <a:r>
              <a:rPr sz="1400" b="1">
                <a:solidFill>
                  <a:srgbClr val="EDE6D8"/>
                </a:solidFill>
                <a:latin typeface="Yu Gothic UI"/>
                <a:ea typeface="Yu Gothic UI"/>
              </a:rPr>
              <a:t>根幹となるメインコンテンツをフォーカスして優先実装 → 関連コンテンツを芋づる式で順に実装</a:t>
            </a:r>
          </a:p>
          <a:p>
            <a:pPr algn="l">
              <a:lnSpc>
                <a:spcPct val="115000"/>
              </a:lnSpc>
              <a:spcAft>
                <a:spcPts val="400"/>
              </a:spcAft>
            </a:pPr>
            <a:r>
              <a:rPr sz="1400" b="0">
                <a:solidFill>
                  <a:srgbClr val="EDE6D8"/>
                </a:solidFill>
                <a:latin typeface="Yu Gothic UI"/>
                <a:ea typeface="Yu Gothic UI"/>
              </a:rPr>
              <a:t>そのための相関図を作成中（Claude整理）。「イイ感じ」になったら関係性の強いところから着手</a:t>
            </a:r>
          </a:p>
        </p:txBody>
      </p:sp>
      <p:sp>
        <p:nvSpPr>
          <p:cNvPr id="8" name="TextBox 7"/>
          <p:cNvSpPr txBox="1"/>
          <p:nvPr/>
        </p:nvSpPr>
        <p:spPr>
          <a:xfrm>
            <a:off x="685800" y="3017520"/>
            <a:ext cx="10789920" cy="365760"/>
          </a:xfrm>
          <a:prstGeom prst="rect">
            <a:avLst/>
          </a:prstGeom>
          <a:noFill/>
        </p:spPr>
        <p:txBody>
          <a:bodyPr wrap="square" anchor="t">
            <a:spAutoFit/>
          </a:bodyPr>
          <a:lstStyle/>
          <a:p>
            <a:pPr algn="l">
              <a:lnSpc>
                <a:spcPct val="115000"/>
              </a:lnSpc>
              <a:spcAft>
                <a:spcPts val="400"/>
              </a:spcAft>
            </a:pPr>
            <a:r>
              <a:rPr sz="1600" b="1">
                <a:solidFill>
                  <a:srgbClr val="9B5CF6"/>
                </a:solidFill>
                <a:latin typeface="Yu Gothic UI"/>
                <a:ea typeface="Yu Gothic UI"/>
              </a:rPr>
              <a:t>■ スケジュール感（2026-07-12時点）</a:t>
            </a:r>
          </a:p>
        </p:txBody>
      </p:sp>
      <p:sp>
        <p:nvSpPr>
          <p:cNvPr id="9" name="Rounded Rectangle 8"/>
          <p:cNvSpPr/>
          <p:nvPr/>
        </p:nvSpPr>
        <p:spPr>
          <a:xfrm>
            <a:off x="914400" y="3474720"/>
            <a:ext cx="2926080" cy="640080"/>
          </a:xfrm>
          <a:prstGeom prst="roundRect">
            <a:avLst>
              <a:gd name="adj" fmla="val 6000"/>
            </a:avLst>
          </a:prstGeom>
          <a:solidFill>
            <a:srgbClr val="1C1533"/>
          </a:solidFill>
          <a:ln w="1270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EDE6D8"/>
                </a:solidFill>
                <a:latin typeface="Yu Gothic UI"/>
                <a:ea typeface="Yu Gothic UI"/>
              </a:rPr>
              <a:t>弓実装（完了）</a:t>
            </a:r>
          </a:p>
        </p:txBody>
      </p:sp>
      <p:sp>
        <p:nvSpPr>
          <p:cNvPr id="10" name="Right Arrow 9"/>
          <p:cNvSpPr/>
          <p:nvPr/>
        </p:nvSpPr>
        <p:spPr>
          <a:xfrm>
            <a:off x="3931920" y="3611880"/>
            <a:ext cx="457200" cy="365760"/>
          </a:xfrm>
          <a:prstGeom prst="rightArrow">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0560" y="3474720"/>
            <a:ext cx="2926080" cy="640080"/>
          </a:xfrm>
          <a:prstGeom prst="roundRect">
            <a:avLst>
              <a:gd name="adj" fmla="val 6000"/>
            </a:avLst>
          </a:prstGeom>
          <a:solidFill>
            <a:srgbClr val="1C1533"/>
          </a:solidFill>
          <a:ln w="12700">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EDE6D8"/>
                </a:solidFill>
                <a:latin typeface="Yu Gothic UI"/>
                <a:ea typeface="Yu Gothic UI"/>
              </a:rPr>
              <a:t>細かい修正</a:t>
            </a:r>
          </a:p>
        </p:txBody>
      </p:sp>
      <p:sp>
        <p:nvSpPr>
          <p:cNvPr id="12" name="Right Arrow 11"/>
          <p:cNvSpPr/>
          <p:nvPr/>
        </p:nvSpPr>
        <p:spPr>
          <a:xfrm>
            <a:off x="7498080" y="3611880"/>
            <a:ext cx="457200" cy="365760"/>
          </a:xfrm>
          <a:prstGeom prst="rightArrow">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46720" y="3474720"/>
            <a:ext cx="2926080" cy="640080"/>
          </a:xfrm>
          <a:prstGeom prst="roundRect">
            <a:avLst>
              <a:gd name="adj" fmla="val 6000"/>
            </a:avLst>
          </a:prstGeom>
          <a:solidFill>
            <a:srgbClr val="1C1533"/>
          </a:solidFill>
          <a:ln w="22860">
            <a:solidFill>
              <a:srgbClr val="F0C6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0C64A"/>
                </a:solidFill>
                <a:latin typeface="Yu Gothic UI"/>
                <a:ea typeface="Yu Gothic UI"/>
              </a:rPr>
              <a:t>7月中旬〜 新機能着手</a:t>
            </a:r>
          </a:p>
        </p:txBody>
      </p:sp>
      <p:sp>
        <p:nvSpPr>
          <p:cNvPr id="14" name="TextBox 13"/>
          <p:cNvSpPr txBox="1"/>
          <p:nvPr/>
        </p:nvSpPr>
        <p:spPr>
          <a:xfrm>
            <a:off x="685800" y="4526280"/>
            <a:ext cx="10789920" cy="365760"/>
          </a:xfrm>
          <a:prstGeom prst="rect">
            <a:avLst/>
          </a:prstGeom>
          <a:noFill/>
        </p:spPr>
        <p:txBody>
          <a:bodyPr wrap="square" anchor="t">
            <a:spAutoFit/>
          </a:bodyPr>
          <a:lstStyle/>
          <a:p>
            <a:pPr algn="l">
              <a:lnSpc>
                <a:spcPct val="115000"/>
              </a:lnSpc>
              <a:spcAft>
                <a:spcPts val="400"/>
              </a:spcAft>
            </a:pPr>
            <a:r>
              <a:rPr sz="1600" b="1">
                <a:solidFill>
                  <a:srgbClr val="9B5CF6"/>
                </a:solidFill>
                <a:latin typeface="Yu Gothic UI"/>
                <a:ea typeface="Yu Gothic UI"/>
              </a:rPr>
              <a:t>■ 役割分担・作画</a:t>
            </a:r>
          </a:p>
        </p:txBody>
      </p:sp>
      <p:sp>
        <p:nvSpPr>
          <p:cNvPr id="15" name="TextBox 14"/>
          <p:cNvSpPr txBox="1"/>
          <p:nvPr/>
        </p:nvSpPr>
        <p:spPr>
          <a:xfrm>
            <a:off x="868680" y="4937760"/>
            <a:ext cx="10515600" cy="1463040"/>
          </a:xfrm>
          <a:prstGeom prst="rect">
            <a:avLst/>
          </a:prstGeom>
          <a:noFill/>
        </p:spPr>
        <p:txBody>
          <a:bodyPr wrap="square" anchor="t">
            <a:spAutoFit/>
          </a:bodyPr>
          <a:lstStyle/>
          <a:p>
            <a:pPr algn="l">
              <a:lnSpc>
                <a:spcPct val="115000"/>
              </a:lnSpc>
              <a:spcAft>
                <a:spcPts val="400"/>
              </a:spcAft>
            </a:pPr>
            <a:r>
              <a:rPr sz="1400" b="1">
                <a:solidFill>
                  <a:srgbClr val="F0C64A"/>
                </a:solidFill>
                <a:latin typeface="Yu Gothic UI"/>
                <a:ea typeface="Yu Gothic UI"/>
              </a:rPr>
              <a:t>まっち：</a:t>
            </a:r>
            <a:r>
              <a:rPr sz="1400" b="0">
                <a:solidFill>
                  <a:srgbClr val="EDE6D8"/>
                </a:solidFill>
                <a:latin typeface="Yu Gothic UI"/>
                <a:ea typeface="Yu Gothic UI"/>
              </a:rPr>
              <a:t>実装・設計・実現性判断・企画書への集約</a:t>
            </a:r>
          </a:p>
          <a:p>
            <a:pPr algn="l">
              <a:lnSpc>
                <a:spcPct val="115000"/>
              </a:lnSpc>
              <a:spcAft>
                <a:spcPts val="400"/>
              </a:spcAft>
            </a:pPr>
            <a:r>
              <a:rPr sz="1400" b="1">
                <a:solidFill>
                  <a:srgbClr val="F0C64A"/>
                </a:solidFill>
                <a:latin typeface="Yu Gothic UI"/>
                <a:ea typeface="Yu Gothic UI"/>
              </a:rPr>
              <a:t>モコ：</a:t>
            </a:r>
            <a:r>
              <a:rPr sz="1400" b="0">
                <a:solidFill>
                  <a:srgbClr val="EDE6D8"/>
                </a:solidFill>
                <a:latin typeface="Yu Gothic UI"/>
                <a:ea typeface="Yu Gothic UI"/>
              </a:rPr>
              <a:t>現実性を考慮しないアイデア・ユーザー視点の理想形（システム/ストーリー/職業/アイテム/グラフィック）。ツリースキルのアイデア等を思考中</a:t>
            </a:r>
          </a:p>
          <a:p>
            <a:pPr algn="l">
              <a:lnSpc>
                <a:spcPct val="115000"/>
              </a:lnSpc>
              <a:spcAft>
                <a:spcPts val="400"/>
              </a:spcAft>
            </a:pPr>
            <a:r>
              <a:rPr sz="1400" b="1">
                <a:solidFill>
                  <a:srgbClr val="F0C64A"/>
                </a:solidFill>
                <a:latin typeface="Yu Gothic UI"/>
                <a:ea typeface="Yu Gothic UI"/>
              </a:rPr>
              <a:t>作画：</a:t>
            </a:r>
            <a:r>
              <a:rPr sz="1400" b="0">
                <a:solidFill>
                  <a:srgbClr val="EDE6D8"/>
                </a:solidFill>
                <a:latin typeface="Yu Gothic UI"/>
                <a:ea typeface="Yu Gothic UI"/>
              </a:rPr>
              <a:t>base数点＋生成AIで負担を抑えて実装</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0058400" cy="685800"/>
          </a:xfrm>
          <a:prstGeom prst="rect">
            <a:avLst/>
          </a:prstGeom>
          <a:noFill/>
        </p:spPr>
        <p:txBody>
          <a:bodyPr wrap="square" anchor="t">
            <a:spAutoFit/>
          </a:bodyPr>
          <a:lstStyle/>
          <a:p>
            <a:pPr algn="l">
              <a:lnSpc>
                <a:spcPct val="115000"/>
              </a:lnSpc>
              <a:spcAft>
                <a:spcPts val="400"/>
              </a:spcAft>
            </a:pPr>
            <a:r>
              <a:rPr sz="3000" b="1">
                <a:solidFill>
                  <a:srgbClr val="F0C64A"/>
                </a:solidFill>
                <a:latin typeface="Yu Mincho Demibold"/>
                <a:ea typeface="Yu Mincho Demibold"/>
              </a:rPr>
              <a:t>12. 未決事項（次回以降の議論テーマ）</a:t>
            </a:r>
          </a:p>
        </p:txBody>
      </p:sp>
      <p:sp>
        <p:nvSpPr>
          <p:cNvPr id="5" name="Rectangle 4"/>
          <p:cNvSpPr/>
          <p:nvPr/>
        </p:nvSpPr>
        <p:spPr>
          <a:xfrm>
            <a:off x="530352" y="932688"/>
            <a:ext cx="11155680" cy="20320"/>
          </a:xfrm>
          <a:prstGeom prst="rect">
            <a:avLst/>
          </a:prstGeom>
          <a:solidFill>
            <a:srgbClr val="C99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508760"/>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ギルドツリーの中身（解禁ノード具体案・フルポイント分岐）</a:t>
            </a:r>
          </a:p>
        </p:txBody>
      </p:sp>
      <p:sp>
        <p:nvSpPr>
          <p:cNvPr id="8" name="Rounded Rectangle 7"/>
          <p:cNvSpPr/>
          <p:nvPr/>
        </p:nvSpPr>
        <p:spPr>
          <a:xfrm>
            <a:off x="6263640" y="1508760"/>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536192"/>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貢献値の算出式（深度ベース。到達階数×係数？）</a:t>
            </a:r>
          </a:p>
        </p:txBody>
      </p:sp>
      <p:sp>
        <p:nvSpPr>
          <p:cNvPr id="10" name="Rounded Rectangle 9"/>
          <p:cNvSpPr/>
          <p:nvPr/>
        </p:nvSpPr>
        <p:spPr>
          <a:xfrm>
            <a:off x="640080" y="2313432"/>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40864"/>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「ギルド」の単位（全鯖1共同体 or 複数ギルド制）</a:t>
            </a:r>
          </a:p>
        </p:txBody>
      </p:sp>
      <p:sp>
        <p:nvSpPr>
          <p:cNvPr id="12" name="Rounded Rectangle 11"/>
          <p:cNvSpPr/>
          <p:nvPr/>
        </p:nvSpPr>
        <p:spPr>
          <a:xfrm>
            <a:off x="6263640" y="2313432"/>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340864"/>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「塔の攻略（クリア）」の定義（目標階数・章構成・周回）</a:t>
            </a:r>
          </a:p>
        </p:txBody>
      </p:sp>
      <p:sp>
        <p:nvSpPr>
          <p:cNvPr id="14" name="Rounded Rectangle 13"/>
          <p:cNvSpPr/>
          <p:nvPr/>
        </p:nvSpPr>
        <p:spPr>
          <a:xfrm>
            <a:off x="640080" y="3118104"/>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145536"/>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ストーリー原案・チュートリアル（死亡と引き継ぎを最初に体感）</a:t>
            </a:r>
          </a:p>
        </p:txBody>
      </p:sp>
      <p:sp>
        <p:nvSpPr>
          <p:cNvPr id="16" name="Rounded Rectangle 15"/>
          <p:cNvSpPr/>
          <p:nvPr/>
        </p:nvSpPr>
        <p:spPr>
          <a:xfrm>
            <a:off x="6263640" y="3118104"/>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145536"/>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魂メッセージのモデレーション（不適切ワード対策）</a:t>
            </a:r>
          </a:p>
        </p:txBody>
      </p:sp>
      <p:sp>
        <p:nvSpPr>
          <p:cNvPr id="18" name="Rounded Rectangle 17"/>
          <p:cNvSpPr/>
          <p:nvPr/>
        </p:nvSpPr>
        <p:spPr>
          <a:xfrm>
            <a:off x="640080" y="3922776"/>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950208"/>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魂のログの「見つける意義・シェアするメリット」設計</a:t>
            </a:r>
          </a:p>
        </p:txBody>
      </p:sp>
      <p:sp>
        <p:nvSpPr>
          <p:cNvPr id="20" name="Rounded Rectangle 19"/>
          <p:cNvSpPr/>
          <p:nvPr/>
        </p:nvSpPr>
        <p:spPr>
          <a:xfrm>
            <a:off x="6263640" y="3922776"/>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3950208"/>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エンドロール演出の詳細（死亡ログの範囲・順序）</a:t>
            </a:r>
          </a:p>
        </p:txBody>
      </p:sp>
      <p:sp>
        <p:nvSpPr>
          <p:cNvPr id="22" name="Rounded Rectangle 21"/>
          <p:cNvSpPr/>
          <p:nvPr/>
        </p:nvSpPr>
        <p:spPr>
          <a:xfrm>
            <a:off x="640080" y="4727448"/>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754880"/>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新章と本編の進行データの関係（転生時の持ち込み）</a:t>
            </a:r>
          </a:p>
        </p:txBody>
      </p:sp>
      <p:sp>
        <p:nvSpPr>
          <p:cNvPr id="24" name="Rounded Rectangle 23"/>
          <p:cNvSpPr/>
          <p:nvPr/>
        </p:nvSpPr>
        <p:spPr>
          <a:xfrm>
            <a:off x="6263640" y="4727448"/>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754880"/>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同時プレイ時（オンライン重複時）の楽しみの工夫</a:t>
            </a:r>
          </a:p>
        </p:txBody>
      </p:sp>
      <p:sp>
        <p:nvSpPr>
          <p:cNvPr id="26" name="Rounded Rectangle 25"/>
          <p:cNvSpPr/>
          <p:nvPr/>
        </p:nvSpPr>
        <p:spPr>
          <a:xfrm>
            <a:off x="640080" y="5532120"/>
            <a:ext cx="5440680" cy="658368"/>
          </a:xfrm>
          <a:prstGeom prst="roundRect">
            <a:avLst>
              <a:gd name="adj" fmla="val 6000"/>
            </a:avLst>
          </a:prstGeom>
          <a:solidFill>
            <a:srgbClr val="141028"/>
          </a:solidFill>
          <a:ln w="9525">
            <a:solidFill>
              <a:srgbClr val="C99A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559552"/>
            <a:ext cx="5120640" cy="603504"/>
          </a:xfrm>
          <a:prstGeom prst="rect">
            <a:avLst/>
          </a:prstGeom>
          <a:noFill/>
        </p:spPr>
        <p:txBody>
          <a:bodyPr wrap="square" anchor="ctr">
            <a:spAutoFit/>
          </a:bodyPr>
          <a:lstStyle/>
          <a:p>
            <a:pPr algn="l">
              <a:lnSpc>
                <a:spcPct val="115000"/>
              </a:lnSpc>
              <a:spcAft>
                <a:spcPts val="400"/>
              </a:spcAft>
            </a:pPr>
            <a:r>
              <a:rPr sz="1250" b="1">
                <a:solidFill>
                  <a:srgbClr val="F0C64A"/>
                </a:solidFill>
                <a:latin typeface="Yu Gothic UI"/>
                <a:ea typeface="Yu Gothic UI"/>
              </a:rPr>
              <a:t>□ </a:t>
            </a:r>
            <a:r>
              <a:rPr sz="1250" b="0">
                <a:solidFill>
                  <a:srgbClr val="EDE6D8"/>
                </a:solidFill>
                <a:latin typeface="Yu Gothic UI"/>
                <a:ea typeface="Yu Gothic UI"/>
              </a:rPr>
              <a:t>協力プレイへ誘導するプロモーション設計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0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100"/>
          </a:xfrm>
          <a:prstGeom prst="rect">
            <a:avLst/>
          </a:prstGeom>
          <a:solidFill>
            <a:srgbClr val="9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10698480" cy="1097280"/>
          </a:xfrm>
          <a:prstGeom prst="rect">
            <a:avLst/>
          </a:prstGeom>
          <a:noFill/>
        </p:spPr>
        <p:txBody>
          <a:bodyPr wrap="square" anchor="t">
            <a:spAutoFit/>
          </a:bodyPr>
          <a:lstStyle/>
          <a:p>
            <a:pPr algn="ctr">
              <a:lnSpc>
                <a:spcPct val="115000"/>
              </a:lnSpc>
              <a:spcAft>
                <a:spcPts val="400"/>
              </a:spcAft>
            </a:pPr>
            <a:r>
              <a:rPr sz="4000" b="1">
                <a:solidFill>
                  <a:srgbClr val="F0C64A"/>
                </a:solidFill>
                <a:latin typeface="Yu Mincho Demibold"/>
                <a:ea typeface="Yu Mincho Demibold"/>
              </a:rPr>
              <a:t>みんなの意志が、塔を登っていく。</a:t>
            </a:r>
          </a:p>
        </p:txBody>
      </p:sp>
      <p:sp>
        <p:nvSpPr>
          <p:cNvPr id="5" name="TextBox 4"/>
          <p:cNvSpPr txBox="1"/>
          <p:nvPr/>
        </p:nvSpPr>
        <p:spPr>
          <a:xfrm>
            <a:off x="731520" y="3749039"/>
            <a:ext cx="10698480" cy="548640"/>
          </a:xfrm>
          <a:prstGeom prst="rect">
            <a:avLst/>
          </a:prstGeom>
          <a:noFill/>
        </p:spPr>
        <p:txBody>
          <a:bodyPr wrap="square" anchor="t">
            <a:spAutoFit/>
          </a:bodyPr>
          <a:lstStyle/>
          <a:p>
            <a:pPr algn="ctr">
              <a:lnSpc>
                <a:spcPct val="115000"/>
              </a:lnSpc>
              <a:spcAft>
                <a:spcPts val="400"/>
              </a:spcAft>
            </a:pPr>
            <a:r>
              <a:rPr sz="1800" b="1">
                <a:solidFill>
                  <a:srgbClr val="9B5CF6"/>
                </a:solidFill>
                <a:latin typeface="Yu Gothic UI"/>
                <a:ea typeface="Yu Gothic UI"/>
              </a:rPr>
              <a:t>KIZUNA — 「次へ繋ぐ」ゲーム体験</a:t>
            </a:r>
          </a:p>
        </p:txBody>
      </p:sp>
      <p:sp>
        <p:nvSpPr>
          <p:cNvPr id="6" name="TextBox 5"/>
          <p:cNvSpPr txBox="1"/>
          <p:nvPr/>
        </p:nvSpPr>
        <p:spPr>
          <a:xfrm>
            <a:off x="731520" y="6035040"/>
            <a:ext cx="10698480" cy="457200"/>
          </a:xfrm>
          <a:prstGeom prst="rect">
            <a:avLst/>
          </a:prstGeom>
          <a:noFill/>
        </p:spPr>
        <p:txBody>
          <a:bodyPr wrap="square" anchor="t">
            <a:spAutoFit/>
          </a:bodyPr>
          <a:lstStyle/>
          <a:p>
            <a:pPr algn="ctr">
              <a:lnSpc>
                <a:spcPct val="115000"/>
              </a:lnSpc>
              <a:spcAft>
                <a:spcPts val="400"/>
              </a:spcAft>
            </a:pPr>
            <a:r>
              <a:rPr sz="1100" b="0">
                <a:solidFill>
                  <a:srgbClr val="B9AFD0"/>
                </a:solidFill>
                <a:latin typeface="Yu Gothic UI"/>
                <a:ea typeface="Yu Gothic UI"/>
              </a:rPr>
              <a:t>最終更新：2026-07-12｜出典：Discordログ全文とコンセプト画像</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